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453360" y="7269480"/>
            <a:ext cx="4754880" cy="4754880"/>
          </a:xfrm>
          <a:prstGeom prst="ellipse">
            <a:avLst/>
          </a:prstGeom>
          <a:solidFill>
            <a:srgbClr val="FE4CB9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280160" y="566928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1A0044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56692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-2377440" y="-2560320"/>
            <a:ext cx="6583680" cy="6583680"/>
          </a:xfrm>
          <a:prstGeom prst="ellipse">
            <a:avLst/>
          </a:prstGeom>
          <a:solidFill>
            <a:srgbClr val="9859FF">
              <a:alpha val="12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88036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0" b="1" spc="-15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9200" dirty="0"/>
          </a:p>
        </p:txBody>
      </p:sp>
      <p:sp>
        <p:nvSpPr>
          <p:cNvPr id="7" name="Shape 5"/>
          <p:cNvSpPr/>
          <p:nvPr/>
        </p:nvSpPr>
        <p:spPr>
          <a:xfrm>
            <a:off x="1335024" y="4709160"/>
            <a:ext cx="1920240" cy="109728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5029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খরচ  ·  Bengali for "expense"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5715000"/>
            <a:ext cx="9509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personal ledger that reads your receipts,</a:t>
            </a:r>
            <a:endParaRPr lang="en-US" sz="25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250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forecasts your month, and plans your savings.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280160" y="7635240"/>
            <a:ext cx="7680960" cy="1325880"/>
          </a:xfrm>
          <a:prstGeom prst="roundRect">
            <a:avLst>
              <a:gd name="adj" fmla="val 11034"/>
            </a:avLst>
          </a:prstGeom>
          <a:solidFill>
            <a:srgbClr val="F6F2FD"/>
          </a:solidFill>
          <a:ln w="15875">
            <a:solidFill>
              <a:srgbClr val="9859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45920" y="78638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TEAM LOGARITHM</a:t>
            </a:r>
            <a:pPr indent="0" marL="0">
              <a:buNone/>
            </a:pPr>
            <a:r>
              <a:rPr lang="en-US" sz="17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  LSH26-T033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45920" y="83210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Problem P12  ·  Personal Ledger Manager  ·  Tier 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252960" y="393192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 / 4</a:t>
            </a:r>
            <a:endParaRPr lang="en-US" sz="7800" dirty="0"/>
          </a:p>
        </p:txBody>
      </p:sp>
      <p:sp>
        <p:nvSpPr>
          <p:cNvPr id="14" name="Text 12"/>
          <p:cNvSpPr/>
          <p:nvPr/>
        </p:nvSpPr>
        <p:spPr>
          <a:xfrm>
            <a:off x="12252960" y="5349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5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REQUIREMENTS COMPLETE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3350240" y="5989320"/>
            <a:ext cx="2560320" cy="0"/>
          </a:xfrm>
          <a:prstGeom prst="line">
            <a:avLst/>
          </a:prstGeom>
          <a:noFill/>
          <a:ln w="15875">
            <a:solidFill>
              <a:srgbClr val="9859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252960" y="61722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27 tests   ·   25 sample cases   ·   0 API keys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367760" y="94183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737360"/>
            <a:ext cx="4206240" cy="4206240"/>
          </a:xfrm>
          <a:prstGeom prst="ellipse">
            <a:avLst/>
          </a:prstGeom>
          <a:solidFill>
            <a:srgbClr val="9859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5453360" y="7269480"/>
            <a:ext cx="4754880" cy="4754880"/>
          </a:xfrm>
          <a:prstGeom prst="ellipse">
            <a:avLst/>
          </a:prstGeom>
          <a:solidFill>
            <a:srgbClr val="FE4CB9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280160" y="566928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1A004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56692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80160" y="1600200"/>
            <a:ext cx="9144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50" kern="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2148840"/>
            <a:ext cx="1508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7400"/>
              </a:lnSpc>
              <a:buNone/>
            </a:pPr>
            <a:r>
              <a:rPr lang="en-US" sz="54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know what you </a:t>
            </a:r>
            <a:pPr indent="0" marL="0">
              <a:lnSpc>
                <a:spcPts val="7400"/>
              </a:lnSpc>
              <a:buNone/>
            </a:pPr>
            <a:r>
              <a:rPr lang="en-US" sz="54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earn</a:t>
            </a:r>
            <a:pPr indent="0" marL="0">
              <a:lnSpc>
                <a:spcPts val="7400"/>
              </a:lnSpc>
              <a:buNone/>
            </a:pPr>
            <a:r>
              <a:rPr lang="en-US" sz="54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5400" dirty="0"/>
          </a:p>
          <a:p>
            <a:pPr indent="0" marL="0">
              <a:lnSpc>
                <a:spcPts val="7400"/>
              </a:lnSpc>
              <a:buNone/>
            </a:pPr>
            <a:r>
              <a:rPr lang="en-US" sz="54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have no idea what you </a:t>
            </a:r>
            <a:pPr indent="0" marL="0">
              <a:lnSpc>
                <a:spcPts val="7400"/>
              </a:lnSpc>
              <a:buNone/>
            </a:pPr>
            <a:r>
              <a:rPr lang="en-US" sz="54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spend</a:t>
            </a:r>
            <a:pPr indent="0" marL="0">
              <a:lnSpc>
                <a:spcPts val="7400"/>
              </a:lnSpc>
              <a:buNone/>
            </a:pPr>
            <a:r>
              <a:rPr lang="en-US" sz="54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1280160" y="5212080"/>
            <a:ext cx="82296" cy="1463040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9" name="Text 7"/>
          <p:cNvSpPr/>
          <p:nvPr/>
        </p:nvSpPr>
        <p:spPr>
          <a:xfrm>
            <a:off x="1691640" y="5212080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RECEIPTS PILE UP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91640" y="5687568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Typing every bill by hand is the reason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nobody keeps a ledger for a whole month.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235440" y="5212080"/>
            <a:ext cx="82296" cy="1463040"/>
          </a:xfrm>
          <a:prstGeom prst="rect">
            <a:avLst/>
          </a:prstGeom>
          <a:solidFill>
            <a:srgbClr val="9859FF"/>
          </a:solidFill>
          <a:ln/>
        </p:spPr>
      </p:sp>
      <p:sp>
        <p:nvSpPr>
          <p:cNvPr id="12" name="Text 10"/>
          <p:cNvSpPr/>
          <p:nvPr/>
        </p:nvSpPr>
        <p:spPr>
          <a:xfrm>
            <a:off x="9646920" y="5212080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MONTH ENDS IN SURPRISE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646920" y="5687568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Spending feels fine on the 17th.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shortfall only appears on the 30th.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280160" y="7360920"/>
            <a:ext cx="82296" cy="1463040"/>
          </a:xfrm>
          <a:prstGeom prst="rect">
            <a:avLst/>
          </a:prstGeom>
          <a:solidFill>
            <a:srgbClr val="0A8F63"/>
          </a:solidFill>
          <a:ln/>
        </p:spPr>
      </p:sp>
      <p:sp>
        <p:nvSpPr>
          <p:cNvPr id="15" name="Text 13"/>
          <p:cNvSpPr/>
          <p:nvPr/>
        </p:nvSpPr>
        <p:spPr>
          <a:xfrm>
            <a:off x="1691640" y="7360920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ADVICE IS USELESS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691640" y="7836408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"Spend less on food" helps nobody.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"Mobile is up ৳2,500" is actionable.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235440" y="7360920"/>
            <a:ext cx="82296" cy="1463040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18" name="Text 16"/>
          <p:cNvSpPr/>
          <p:nvPr/>
        </p:nvSpPr>
        <p:spPr>
          <a:xfrm>
            <a:off x="9646920" y="7360920"/>
            <a:ext cx="6949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SAVING HAS NO DEADLINE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646920" y="7836408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target with no date — and no idea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whether this month can even afford it.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6367760" y="94183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737360"/>
            <a:ext cx="4206240" cy="4206240"/>
          </a:xfrm>
          <a:prstGeom prst="ellipse">
            <a:avLst/>
          </a:prstGeom>
          <a:solidFill>
            <a:srgbClr val="9859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5453360" y="7269480"/>
            <a:ext cx="4754880" cy="4754880"/>
          </a:xfrm>
          <a:prstGeom prst="ellipse">
            <a:avLst/>
          </a:prstGeom>
          <a:solidFill>
            <a:srgbClr val="FE4CB9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280160" y="566928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1A004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56692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80160" y="1600200"/>
            <a:ext cx="9144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50" kern="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OUR SOLUTION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2103120"/>
            <a:ext cx="1508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ledger. </a:t>
            </a:r>
            <a:pPr indent="0" marL="0">
              <a:buNone/>
            </a:pPr>
            <a:r>
              <a:rPr lang="en-US" sz="54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Four answers.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280160" y="3246120"/>
            <a:ext cx="1508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Everything runs in the browser — no account, no server, no API key.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280160" y="4114800"/>
            <a:ext cx="3657600" cy="4434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FE4CB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4526280"/>
            <a:ext cx="960120" cy="658368"/>
          </a:xfrm>
          <a:prstGeom prst="roundRect">
            <a:avLst>
              <a:gd name="adj" fmla="val 16667"/>
            </a:avLst>
          </a:prstGeom>
          <a:solidFill>
            <a:srgbClr val="FFE6F5"/>
          </a:solidFill>
          <a:ln/>
        </p:spPr>
      </p:sp>
      <p:sp>
        <p:nvSpPr>
          <p:cNvPr id="11" name="Text 9"/>
          <p:cNvSpPr/>
          <p:nvPr/>
        </p:nvSpPr>
        <p:spPr>
          <a:xfrm>
            <a:off x="1645920" y="4526280"/>
            <a:ext cx="960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R1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645920" y="544068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spc="5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 THE RECEIPT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635508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Photograph a bill. We show what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read — and let you fix it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before anything is saved.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257800" y="4114800"/>
            <a:ext cx="3657600" cy="4434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9859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23560" y="4526280"/>
            <a:ext cx="960120" cy="658368"/>
          </a:xfrm>
          <a:prstGeom prst="roundRect">
            <a:avLst>
              <a:gd name="adj" fmla="val 16667"/>
            </a:avLst>
          </a:prstGeom>
          <a:solidFill>
            <a:srgbClr val="EDE4FF"/>
          </a:solidFill>
          <a:ln/>
        </p:spPr>
      </p:sp>
      <p:sp>
        <p:nvSpPr>
          <p:cNvPr id="16" name="Text 14"/>
          <p:cNvSpPr/>
          <p:nvPr/>
        </p:nvSpPr>
        <p:spPr>
          <a:xfrm>
            <a:off x="5623560" y="4526280"/>
            <a:ext cx="960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R2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623560" y="544068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spc="5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SEE THE MONTH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623560" y="635508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Spend against salary, by category,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largest charges, and the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change since last month.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235440" y="4114800"/>
            <a:ext cx="3657600" cy="4434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0A8F6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0" y="4526280"/>
            <a:ext cx="960120" cy="658368"/>
          </a:xfrm>
          <a:prstGeom prst="roundRect">
            <a:avLst>
              <a:gd name="adj" fmla="val 16667"/>
            </a:avLst>
          </a:prstGeom>
          <a:solidFill>
            <a:srgbClr val="DFF5EC"/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0" y="4526280"/>
            <a:ext cx="960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R3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601200" y="544068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spc="5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KNOW THE ENDING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601200" y="635508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the month lands, and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insights that name real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categories and real amounts.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3213080" y="4114800"/>
            <a:ext cx="3657600" cy="4434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FE4CB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578840" y="4526280"/>
            <a:ext cx="960120" cy="658368"/>
          </a:xfrm>
          <a:prstGeom prst="roundRect">
            <a:avLst>
              <a:gd name="adj" fmla="val 16667"/>
            </a:avLst>
          </a:prstGeom>
          <a:solidFill>
            <a:srgbClr val="FFE6F5"/>
          </a:solidFill>
          <a:ln/>
        </p:spPr>
      </p:sp>
      <p:sp>
        <p:nvSpPr>
          <p:cNvPr id="26" name="Text 24"/>
          <p:cNvSpPr/>
          <p:nvPr/>
        </p:nvSpPr>
        <p:spPr>
          <a:xfrm>
            <a:off x="13578840" y="4526280"/>
            <a:ext cx="960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R4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3578840" y="544068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b="1" spc="5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THE SAVING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3578840" y="635508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Pockets with completion dates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from the forecast, and a DPS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comparison at a stated rate.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6367760" y="94183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737360"/>
            <a:ext cx="4206240" cy="4206240"/>
          </a:xfrm>
          <a:prstGeom prst="ellipse">
            <a:avLst/>
          </a:prstGeom>
          <a:solidFill>
            <a:srgbClr val="9859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5453360" y="7269480"/>
            <a:ext cx="4754880" cy="4754880"/>
          </a:xfrm>
          <a:prstGeom prst="ellipse">
            <a:avLst/>
          </a:prstGeom>
          <a:solidFill>
            <a:srgbClr val="FE4CB9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280160" y="566928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1A004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56692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80160" y="1600200"/>
            <a:ext cx="9144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50" kern="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ARCHITECTURE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2103120"/>
            <a:ext cx="1508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Strict layers. </a:t>
            </a:r>
            <a:pPr indent="0" marL="0">
              <a:buNone/>
            </a:pPr>
            <a:r>
              <a:rPr lang="en-US" sz="50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Pure engines.</a:t>
            </a:r>
            <a:endParaRPr lang="en-US" sz="5000" dirty="0"/>
          </a:p>
        </p:txBody>
      </p:sp>
      <p:sp>
        <p:nvSpPr>
          <p:cNvPr id="8" name="Shape 6"/>
          <p:cNvSpPr/>
          <p:nvPr/>
        </p:nvSpPr>
        <p:spPr>
          <a:xfrm>
            <a:off x="1280160" y="3520440"/>
            <a:ext cx="96926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E4CB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366674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SCREENS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645920" y="4087368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Dashboard · Expenses · Forecast · Pockets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1612880" y="3831336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per requirement. Never computes money.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897880" y="46085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280160" y="4892040"/>
            <a:ext cx="96926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9859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45920" y="503834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STORE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645920" y="5458968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Zustand · salary, expenses, pockets, audit trail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1612880" y="5202936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One source of truth, persisted locally.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897880" y="59801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280160" y="6263640"/>
            <a:ext cx="96926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A8F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45920" y="640994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SERVICES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645920" y="6830568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forecast · insight · receipt · pocket · fixture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1612880" y="6574536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Pure functions. No React. Directly testable.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897880" y="735177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▼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280160" y="7635240"/>
            <a:ext cx="96926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A00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45920" y="778154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PRIMITIVES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645920" y="8202168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money.ts — integer paisa  ·  dates.ts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612880" y="7946136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amount an integer. Never a float.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280160" y="9144000"/>
            <a:ext cx="15727680" cy="713232"/>
          </a:xfrm>
          <a:prstGeom prst="roundRect">
            <a:avLst>
              <a:gd name="adj" fmla="val 15385"/>
            </a:avLst>
          </a:prstGeom>
          <a:solidFill>
            <a:srgbClr val="EDE4FF"/>
          </a:solidFill>
          <a:ln/>
        </p:spPr>
      </p:sp>
      <p:sp>
        <p:nvSpPr>
          <p:cNvPr id="28" name="Text 26"/>
          <p:cNvSpPr/>
          <p:nvPr/>
        </p:nvSpPr>
        <p:spPr>
          <a:xfrm>
            <a:off x="1645920" y="9308592"/>
            <a:ext cx="1499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it matters:   </a:t>
            </a:r>
            <a:pPr indent="0" marL="0">
              <a:buNone/>
            </a:pPr>
            <a:r>
              <a:rPr lang="en-US" sz="15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services import nothing from React, so all 27 tests run on plain Node — no browser, no bundler, no mocking.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16367760" y="94183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737360"/>
            <a:ext cx="4206240" cy="4206240"/>
          </a:xfrm>
          <a:prstGeom prst="ellipse">
            <a:avLst/>
          </a:prstGeom>
          <a:solidFill>
            <a:srgbClr val="9859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5453360" y="7269480"/>
            <a:ext cx="4754880" cy="4754880"/>
          </a:xfrm>
          <a:prstGeom prst="ellipse">
            <a:avLst/>
          </a:prstGeom>
          <a:solidFill>
            <a:srgbClr val="FE4CB9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280160" y="566928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1A004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56692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80160" y="1600200"/>
            <a:ext cx="9144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50" kern="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R1 · READING A RECEIPT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2103120"/>
            <a:ext cx="1508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never guess </a:t>
            </a:r>
            <a:pPr indent="0" marL="0">
              <a:buNone/>
            </a:pPr>
            <a:r>
              <a:rPr lang="en-US" sz="50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silently</a:t>
            </a:r>
            <a:pPr indent="0" marL="0">
              <a:buNone/>
            </a:pPr>
            <a:r>
              <a:rPr lang="en-US" sz="50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1280160" y="3200400"/>
            <a:ext cx="1508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OCR proposes. The user confirms. Nothing reaches the ledger in between.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280160" y="4069080"/>
            <a:ext cx="2697480" cy="7863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859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80160" y="4069080"/>
            <a:ext cx="26974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PHOTO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77640" y="4114800"/>
            <a:ext cx="4480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425696" y="4069080"/>
            <a:ext cx="2697480" cy="7863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859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25696" y="4069080"/>
            <a:ext cx="26974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PREPROCESS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23176" y="4114800"/>
            <a:ext cx="4480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›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7571232" y="4069080"/>
            <a:ext cx="2697480" cy="7863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859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71232" y="4069080"/>
            <a:ext cx="26974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OCR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268712" y="4114800"/>
            <a:ext cx="4480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10716768" y="4069080"/>
            <a:ext cx="2697480" cy="786384"/>
          </a:xfrm>
          <a:prstGeom prst="roundRect">
            <a:avLst>
              <a:gd name="adj" fmla="val 50000"/>
            </a:avLst>
          </a:prstGeom>
          <a:solidFill>
            <a:srgbClr val="FE4CB9"/>
          </a:solidFill>
          <a:ln w="19050">
            <a:solidFill>
              <a:srgbClr val="FE4CB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16768" y="4069080"/>
            <a:ext cx="26974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REVIEW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3414248" y="4114800"/>
            <a:ext cx="4480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13862304" y="4069080"/>
            <a:ext cx="2697480" cy="7863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9859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862304" y="4069080"/>
            <a:ext cx="26974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SAVED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280160" y="5440680"/>
            <a:ext cx="7498080" cy="356616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19050">
            <a:solidFill>
              <a:srgbClr val="9859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1640" y="5715000"/>
            <a:ext cx="6766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A NAIVE PARSER GETS WRONG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91640" y="630936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Subtotal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474720" y="630936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1505.50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691640" y="681228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VAT 5%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3474720" y="681228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75.28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91640" y="731520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TOTAL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474720" y="731520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1580.78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212080" y="731520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correct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691640" y="78181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Cash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474720" y="781812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2000.00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12080" y="781812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✗  larger — but tendered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691640" y="83210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Change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3474720" y="832104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419.22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509760" y="5440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ZERO</a:t>
            </a:r>
            <a:endParaRPr lang="en-US" sz="2700" dirty="0"/>
          </a:p>
        </p:txBody>
      </p:sp>
      <p:sp>
        <p:nvSpPr>
          <p:cNvPr id="38" name="Text 36"/>
          <p:cNvSpPr/>
          <p:nvPr/>
        </p:nvSpPr>
        <p:spPr>
          <a:xfrm>
            <a:off x="9509760" y="59893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external requests — engine, WASM core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and language data are all self-hosted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9509760" y="66751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~2 sec</a:t>
            </a:r>
            <a:endParaRPr lang="en-US" sz="2700" dirty="0"/>
          </a:p>
        </p:txBody>
      </p:sp>
      <p:sp>
        <p:nvSpPr>
          <p:cNvPr id="40" name="Text 38"/>
          <p:cNvSpPr/>
          <p:nvPr/>
        </p:nvSpPr>
        <p:spPr>
          <a:xfrm>
            <a:off x="9509760" y="722376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 read a receipt photographed at an angle,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 grey paper, under directional light</a:t>
            </a:r>
            <a:endParaRPr lang="en-US" sz="1450" dirty="0"/>
          </a:p>
        </p:txBody>
      </p:sp>
      <p:sp>
        <p:nvSpPr>
          <p:cNvPr id="41" name="Text 39"/>
          <p:cNvSpPr/>
          <p:nvPr/>
        </p:nvSpPr>
        <p:spPr>
          <a:xfrm>
            <a:off x="9509760" y="79095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FIELD</a:t>
            </a:r>
            <a:endParaRPr lang="en-US" sz="2700" dirty="0"/>
          </a:p>
        </p:txBody>
      </p:sp>
      <p:sp>
        <p:nvSpPr>
          <p:cNvPr id="42" name="Text 40"/>
          <p:cNvSpPr/>
          <p:nvPr/>
        </p:nvSpPr>
        <p:spPr>
          <a:xfrm>
            <a:off x="9509760" y="845820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editable, with a confidence badge and a note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saying how the value was chosen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16367760" y="94183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737360"/>
            <a:ext cx="4206240" cy="4206240"/>
          </a:xfrm>
          <a:prstGeom prst="ellipse">
            <a:avLst/>
          </a:prstGeom>
          <a:solidFill>
            <a:srgbClr val="9859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5453360" y="7269480"/>
            <a:ext cx="4754880" cy="4754880"/>
          </a:xfrm>
          <a:prstGeom prst="ellipse">
            <a:avLst/>
          </a:prstGeom>
          <a:solidFill>
            <a:srgbClr val="FE4CB9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280160" y="566928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1A004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56692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80160" y="1600200"/>
            <a:ext cx="9144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50" kern="0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R3 · THE FORECAST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2103120"/>
            <a:ext cx="1554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obvious method was </a:t>
            </a:r>
            <a:pPr indent="0" marL="0">
              <a:buNone/>
            </a:pPr>
            <a:r>
              <a:rPr lang="en-US" sz="50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wrong</a:t>
            </a:r>
            <a:pPr indent="0" marL="0">
              <a:buNone/>
            </a:pPr>
            <a:r>
              <a:rPr lang="en-US" sz="50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1280160" y="3200400"/>
            <a:ext cx="1554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Rent lands once, early. A flat daily rate divides it across the days elapsed, then projects it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again across the days remaining — charging it two or three times over.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280160" y="4434840"/>
            <a:ext cx="8778240" cy="347472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9050">
            <a:solidFill>
              <a:srgbClr val="9859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91640" y="47091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5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PUB-17  ·  PROJECTED MONTH TOTAL  vs  ৳90,000 SALARY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691640" y="5257800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FLAT RATE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91640" y="5623560"/>
            <a:ext cx="6766560" cy="566928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13" name="Text 11"/>
          <p:cNvSpPr/>
          <p:nvPr/>
        </p:nvSpPr>
        <p:spPr>
          <a:xfrm>
            <a:off x="1920240" y="5623560"/>
            <a:ext cx="6400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৳111,204   →   reported SHORT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6400800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FIXED CHARGES HELD OUT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691640" y="6766560"/>
            <a:ext cx="3968496" cy="566928"/>
          </a:xfrm>
          <a:prstGeom prst="rect">
            <a:avLst/>
          </a:prstGeom>
          <a:solidFill>
            <a:srgbClr val="0A8F63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6766560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৳65,204   →   in SURPLUS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178040" y="5193792"/>
            <a:ext cx="0" cy="2377440"/>
          </a:xfrm>
          <a:prstGeom prst="line">
            <a:avLst/>
          </a:prstGeom>
          <a:noFill/>
          <a:ln w="19050">
            <a:solidFill>
              <a:srgbClr val="1A004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6720840" y="757123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salary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698480" y="4526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 of 25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0698480" y="5038344"/>
            <a:ext cx="6309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published cases had their surplus-or-shortfall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verdict REVERSED by the flat method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698480" y="5715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৳46,000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698480" y="6227064"/>
            <a:ext cx="6309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largest single over-projection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old method produced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698480" y="6903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 days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10698480" y="7415784"/>
            <a:ext cx="6309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of average spending — the materiality floor that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stops a ৳486 lunch counting as a fixed charge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280160" y="8321040"/>
            <a:ext cx="15727680" cy="1051560"/>
          </a:xfrm>
          <a:prstGeom prst="roundRect">
            <a:avLst>
              <a:gd name="adj" fmla="val 10435"/>
            </a:avLst>
          </a:prstGeom>
          <a:solidFill>
            <a:srgbClr val="EDE4FF"/>
          </a:solidFill>
          <a:ln/>
        </p:spPr>
      </p:sp>
      <p:sp>
        <p:nvSpPr>
          <p:cNvPr id="26" name="Text 24"/>
          <p:cNvSpPr/>
          <p:nvPr/>
        </p:nvSpPr>
        <p:spPr>
          <a:xfrm>
            <a:off x="1691640" y="8503920"/>
            <a:ext cx="1499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measured our own forecast against all 25 cases, found it reversed the answer on a quarter of them, and rewrote it.
</a:t>
            </a:r>
            <a:pPr indent="0" marL="0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arithmetic is printed on screen so a judge can check it by hand.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16367760" y="94183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737360"/>
            <a:ext cx="4206240" cy="4206240"/>
          </a:xfrm>
          <a:prstGeom prst="ellipse">
            <a:avLst/>
          </a:prstGeom>
          <a:solidFill>
            <a:srgbClr val="9859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5453360" y="7269480"/>
            <a:ext cx="4754880" cy="4754880"/>
          </a:xfrm>
          <a:prstGeom prst="ellipse">
            <a:avLst/>
          </a:prstGeom>
          <a:solidFill>
            <a:srgbClr val="FE4CB9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280160" y="566928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1A004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56692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80160" y="1600200"/>
            <a:ext cx="9144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50" kern="0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CORRECTNESS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2103120"/>
            <a:ext cx="15544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Money is </a:t>
            </a:r>
            <a:pPr indent="0" marL="0">
              <a:buNone/>
            </a:pPr>
            <a:r>
              <a:rPr lang="en-US" sz="48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integer paisa</a:t>
            </a:r>
            <a:pPr indent="0" marL="0">
              <a:buNone/>
            </a:pPr>
            <a:r>
              <a:rPr lang="en-US" sz="48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Never a float.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280160" y="3200400"/>
            <a:ext cx="1554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fixture gives decimal strings. The DPS rule compounds monthly with half-up rounding at every step.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Floating point would drift in exactly the figures a judge recomputes by hand.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27 ASSERTIONS OVER THE PUBLISHED FIXTURE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507492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Money · paisa round-trip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760720" y="5120640"/>
            <a:ext cx="4206240" cy="310896"/>
          </a:xfrm>
          <a:prstGeom prst="rect">
            <a:avLst/>
          </a:prstGeom>
          <a:solidFill>
            <a:srgbClr val="F6F2FD"/>
          </a:solidFill>
          <a:ln/>
        </p:spPr>
      </p:sp>
      <p:sp>
        <p:nvSpPr>
          <p:cNvPr id="12" name="Shape 10"/>
          <p:cNvSpPr/>
          <p:nvPr/>
        </p:nvSpPr>
        <p:spPr>
          <a:xfrm>
            <a:off x="5760720" y="5120640"/>
            <a:ext cx="1261872" cy="310896"/>
          </a:xfrm>
          <a:prstGeom prst="rect">
            <a:avLst/>
          </a:prstGeom>
          <a:solidFill>
            <a:srgbClr val="0A8F63"/>
          </a:solidFill>
          <a:ln/>
        </p:spPr>
      </p:sp>
      <p:sp>
        <p:nvSpPr>
          <p:cNvPr id="13" name="Text 11"/>
          <p:cNvSpPr/>
          <p:nvPr/>
        </p:nvSpPr>
        <p:spPr>
          <a:xfrm>
            <a:off x="10104120" y="5074920"/>
            <a:ext cx="640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280160" y="594360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DPS schedule &amp; compounding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5760720" y="5989320"/>
            <a:ext cx="4206240" cy="310896"/>
          </a:xfrm>
          <a:prstGeom prst="rect">
            <a:avLst/>
          </a:prstGeom>
          <a:solidFill>
            <a:srgbClr val="F6F2FD"/>
          </a:solidFill>
          <a:ln/>
        </p:spPr>
      </p:sp>
      <p:sp>
        <p:nvSpPr>
          <p:cNvPr id="16" name="Shape 14"/>
          <p:cNvSpPr/>
          <p:nvPr/>
        </p:nvSpPr>
        <p:spPr>
          <a:xfrm>
            <a:off x="5760720" y="5989320"/>
            <a:ext cx="2103120" cy="310896"/>
          </a:xfrm>
          <a:prstGeom prst="rect">
            <a:avLst/>
          </a:prstGeom>
          <a:solidFill>
            <a:srgbClr val="9859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104120" y="5943600"/>
            <a:ext cx="640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280160" y="681228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Forecast &amp; fixed charges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760720" y="6858000"/>
            <a:ext cx="4206240" cy="310896"/>
          </a:xfrm>
          <a:prstGeom prst="rect">
            <a:avLst/>
          </a:prstGeom>
          <a:solidFill>
            <a:srgbClr val="F6F2FD"/>
          </a:solidFill>
          <a:ln/>
        </p:spPr>
      </p:sp>
      <p:sp>
        <p:nvSpPr>
          <p:cNvPr id="20" name="Shape 18"/>
          <p:cNvSpPr/>
          <p:nvPr/>
        </p:nvSpPr>
        <p:spPr>
          <a:xfrm>
            <a:off x="5760720" y="6858000"/>
            <a:ext cx="3785616" cy="310896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21" name="Text 19"/>
          <p:cNvSpPr/>
          <p:nvPr/>
        </p:nvSpPr>
        <p:spPr>
          <a:xfrm>
            <a:off x="10104120" y="6812280"/>
            <a:ext cx="640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1280160" y="768096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Receipt parser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760720" y="7726680"/>
            <a:ext cx="4206240" cy="310896"/>
          </a:xfrm>
          <a:prstGeom prst="rect">
            <a:avLst/>
          </a:prstGeom>
          <a:solidFill>
            <a:srgbClr val="F6F2FD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0" y="7726680"/>
            <a:ext cx="4206240" cy="310896"/>
          </a:xfrm>
          <a:prstGeom prst="rect">
            <a:avLst/>
          </a:prstGeom>
          <a:solidFill>
            <a:srgbClr val="0A8F63"/>
          </a:solidFill>
          <a:ln/>
        </p:spPr>
      </p:sp>
      <p:sp>
        <p:nvSpPr>
          <p:cNvPr id="25" name="Text 23"/>
          <p:cNvSpPr/>
          <p:nvPr/>
        </p:nvSpPr>
        <p:spPr>
          <a:xfrm>
            <a:off x="10104120" y="7680960"/>
            <a:ext cx="640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1521440" y="48463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1,200+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3898880" y="4864608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amounts round-trip to their exact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original decimal string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1521440" y="6035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25 / 25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13898880" y="6053328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sample cases render every screen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with no crash and no NaN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1521440" y="7223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390 px</a:t>
            </a:r>
            <a:endParaRPr lang="en-US" sz="2500" dirty="0"/>
          </a:p>
        </p:txBody>
      </p:sp>
      <p:sp>
        <p:nvSpPr>
          <p:cNvPr id="31" name="Text 29"/>
          <p:cNvSpPr/>
          <p:nvPr/>
        </p:nvSpPr>
        <p:spPr>
          <a:xfrm>
            <a:off x="13898880" y="7242048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verified on mobile: no overflow,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tap target under 40px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1521440" y="8412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 KEYS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13898880" y="8430768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secret, token or account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anywhere in the repository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16367760" y="94183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07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737360"/>
            <a:ext cx="4206240" cy="4206240"/>
          </a:xfrm>
          <a:prstGeom prst="ellipse">
            <a:avLst/>
          </a:prstGeom>
          <a:solidFill>
            <a:srgbClr val="9859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280160" y="566928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1A0044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56692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80160" y="1600200"/>
            <a:ext cx="9144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50" kern="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PRODUCT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2057400"/>
            <a:ext cx="1554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Load a sample case. </a:t>
            </a:r>
            <a:pPr indent="0" marL="0">
              <a:buNone/>
            </a:pPr>
            <a:r>
              <a:rPr lang="en-US" sz="46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Check every figure.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4736592" y="3502152"/>
            <a:ext cx="8814816" cy="5660136"/>
          </a:xfrm>
          <a:prstGeom prst="roundRect">
            <a:avLst>
              <a:gd name="adj" fmla="val 969"/>
            </a:avLst>
          </a:prstGeom>
          <a:solidFill>
            <a:srgbClr val="1A0044"/>
          </a:solidFill>
          <a:ln/>
        </p:spPr>
      </p:sp>
      <p:pic>
        <p:nvPicPr>
          <p:cNvPr id="8" name="Image 0" descr="slide-d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3703320"/>
            <a:ext cx="8412480" cy="52578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566160" y="9162288"/>
            <a:ext cx="11155680" cy="310896"/>
          </a:xfrm>
          <a:prstGeom prst="roundRect">
            <a:avLst>
              <a:gd name="adj" fmla="val 50000"/>
            </a:avLst>
          </a:prstGeom>
          <a:solidFill>
            <a:srgbClr val="1A0044"/>
          </a:solidFill>
          <a:ln/>
        </p:spPr>
      </p:sp>
      <p:sp>
        <p:nvSpPr>
          <p:cNvPr id="10" name="Shape 7"/>
          <p:cNvSpPr/>
          <p:nvPr/>
        </p:nvSpPr>
        <p:spPr>
          <a:xfrm>
            <a:off x="8503920" y="9253728"/>
            <a:ext cx="1280160" cy="118872"/>
          </a:xfrm>
          <a:prstGeom prst="roundRect">
            <a:avLst>
              <a:gd name="adj" fmla="val 50000"/>
            </a:avLst>
          </a:prstGeom>
          <a:solidFill>
            <a:srgbClr val="4A3570"/>
          </a:solidFill>
          <a:ln/>
        </p:spPr>
      </p:sp>
      <p:sp>
        <p:nvSpPr>
          <p:cNvPr id="11" name="Text 8"/>
          <p:cNvSpPr/>
          <p:nvPr/>
        </p:nvSpPr>
        <p:spPr>
          <a:xfrm>
            <a:off x="1280160" y="9601200"/>
            <a:ext cx="1572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PUB-01  ·  17 April 2026  ·  ৳50,000 salary  ·  41 expenses  —  dashboard, forecast, insights and DPS all from one loaded case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6367760" y="94183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08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737360"/>
            <a:ext cx="4206240" cy="4206240"/>
          </a:xfrm>
          <a:prstGeom prst="ellipse">
            <a:avLst/>
          </a:prstGeom>
          <a:solidFill>
            <a:srgbClr val="9859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280160" y="566928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1A0044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56692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80160" y="1600200"/>
            <a:ext cx="9144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50" kern="0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 A PHONE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2103120"/>
            <a:ext cx="87782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46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Built for the device</a:t>
            </a:r>
            <a:endParaRPr lang="en-US" sz="46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46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people actually </a:t>
            </a:r>
            <a:pPr indent="0" marL="0">
              <a:lnSpc>
                <a:spcPts val="6200"/>
              </a:lnSpc>
              <a:buNone/>
            </a:pPr>
            <a:r>
              <a:rPr lang="en-US" sz="460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carry</a:t>
            </a:r>
            <a:pPr indent="0" marL="0">
              <a:lnSpc>
                <a:spcPts val="6200"/>
              </a:lnSpc>
              <a:buNone/>
            </a:pPr>
            <a:r>
              <a:rPr lang="en-US" sz="46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1280160" y="4754880"/>
            <a:ext cx="82296" cy="868680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8" name="Text 6"/>
          <p:cNvSpPr/>
          <p:nvPr/>
        </p:nvSpPr>
        <p:spPr>
          <a:xfrm>
            <a:off x="1664208" y="470916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spc="8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HORIZONTAL SCROLL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64208" y="5148072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 any tab, verified at 390px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1280160" y="5989320"/>
            <a:ext cx="82296" cy="868680"/>
          </a:xfrm>
          <a:prstGeom prst="rect">
            <a:avLst/>
          </a:prstGeom>
          <a:solidFill>
            <a:srgbClr val="9859FF"/>
          </a:solidFill>
          <a:ln/>
        </p:spPr>
      </p:sp>
      <p:sp>
        <p:nvSpPr>
          <p:cNvPr id="11" name="Text 9"/>
          <p:cNvSpPr/>
          <p:nvPr/>
        </p:nvSpPr>
        <p:spPr>
          <a:xfrm>
            <a:off x="1664208" y="594360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spc="8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TAP TARGET UNDER 40px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664208" y="6382512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Undo is 70×44 — it has a deadline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1280160" y="7223760"/>
            <a:ext cx="82296" cy="868680"/>
          </a:xfrm>
          <a:prstGeom prst="rect">
            <a:avLst/>
          </a:prstGeom>
          <a:solidFill>
            <a:srgbClr val="0A8F63"/>
          </a:solidFill>
          <a:ln/>
        </p:spPr>
      </p:sp>
      <p:sp>
        <p:nvSpPr>
          <p:cNvPr id="14" name="Text 12"/>
          <p:cNvSpPr/>
          <p:nvPr/>
        </p:nvSpPr>
        <p:spPr>
          <a:xfrm>
            <a:off x="1664208" y="717804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spc="8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TABLE ADAPTS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664208" y="7616952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date rides under the shop name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instead of forcing the card wide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1280160" y="8458200"/>
            <a:ext cx="82296" cy="868680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17" name="Text 15"/>
          <p:cNvSpPr/>
          <p:nvPr/>
        </p:nvSpPr>
        <p:spPr>
          <a:xfrm>
            <a:off x="1664208" y="8412480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spc="8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PHOTOGRAPH A BILL DIRECTLY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664208" y="8851392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camera is the natural input here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10561320" y="2182190"/>
            <a:ext cx="2990088" cy="6078068"/>
          </a:xfrm>
          <a:prstGeom prst="roundRect">
            <a:avLst>
              <a:gd name="adj" fmla="val 4281"/>
            </a:avLst>
          </a:prstGeom>
          <a:solidFill>
            <a:srgbClr val="C8C6C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611612" y="2232482"/>
            <a:ext cx="2889504" cy="5977484"/>
          </a:xfrm>
          <a:prstGeom prst="roundRect">
            <a:avLst>
              <a:gd name="adj" fmla="val 4114"/>
            </a:avLst>
          </a:prstGeom>
          <a:solidFill>
            <a:srgbClr val="0B0B0F"/>
          </a:solidFill>
          <a:ln/>
        </p:spPr>
      </p:sp>
      <p:pic>
        <p:nvPicPr>
          <p:cNvPr id="21" name="Image 0" descr="slide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0484" y="2351354"/>
            <a:ext cx="2651760" cy="573974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11690604" y="2252599"/>
            <a:ext cx="731520" cy="60350"/>
          </a:xfrm>
          <a:prstGeom prst="roundRect">
            <a:avLst>
              <a:gd name="adj" fmla="val 50000"/>
            </a:avLst>
          </a:prstGeom>
          <a:solidFill>
            <a:srgbClr val="2A2A32"/>
          </a:solidFill>
          <a:ln/>
        </p:spPr>
      </p:sp>
      <p:sp>
        <p:nvSpPr>
          <p:cNvPr id="23" name="Shape 20"/>
          <p:cNvSpPr/>
          <p:nvPr/>
        </p:nvSpPr>
        <p:spPr>
          <a:xfrm>
            <a:off x="10529316" y="3142310"/>
            <a:ext cx="45720" cy="256032"/>
          </a:xfrm>
          <a:prstGeom prst="roundRect">
            <a:avLst>
              <a:gd name="adj" fmla="val 50000"/>
            </a:avLst>
          </a:prstGeom>
          <a:solidFill>
            <a:srgbClr val="A9A7B0"/>
          </a:solidFill>
          <a:ln/>
        </p:spPr>
      </p:sp>
      <p:sp>
        <p:nvSpPr>
          <p:cNvPr id="24" name="Shape 21"/>
          <p:cNvSpPr/>
          <p:nvPr/>
        </p:nvSpPr>
        <p:spPr>
          <a:xfrm>
            <a:off x="10529316" y="3553790"/>
            <a:ext cx="45720" cy="438912"/>
          </a:xfrm>
          <a:prstGeom prst="roundRect">
            <a:avLst>
              <a:gd name="adj" fmla="val 50000"/>
            </a:avLst>
          </a:prstGeom>
          <a:solidFill>
            <a:srgbClr val="A9A7B0"/>
          </a:solidFill>
          <a:ln/>
        </p:spPr>
      </p:sp>
      <p:sp>
        <p:nvSpPr>
          <p:cNvPr id="25" name="Shape 22"/>
          <p:cNvSpPr/>
          <p:nvPr/>
        </p:nvSpPr>
        <p:spPr>
          <a:xfrm>
            <a:off x="10529316" y="4120718"/>
            <a:ext cx="45720" cy="438912"/>
          </a:xfrm>
          <a:prstGeom prst="roundRect">
            <a:avLst>
              <a:gd name="adj" fmla="val 50000"/>
            </a:avLst>
          </a:prstGeom>
          <a:solidFill>
            <a:srgbClr val="A9A7B0"/>
          </a:solidFill>
          <a:ln/>
        </p:spPr>
      </p:sp>
      <p:sp>
        <p:nvSpPr>
          <p:cNvPr id="26" name="Shape 23"/>
          <p:cNvSpPr/>
          <p:nvPr/>
        </p:nvSpPr>
        <p:spPr>
          <a:xfrm>
            <a:off x="13537692" y="3754958"/>
            <a:ext cx="45720" cy="640080"/>
          </a:xfrm>
          <a:prstGeom prst="roundRect">
            <a:avLst>
              <a:gd name="adj" fmla="val 50000"/>
            </a:avLst>
          </a:prstGeom>
          <a:solidFill>
            <a:srgbClr val="A9A7B0"/>
          </a:solidFill>
          <a:ln/>
        </p:spPr>
      </p:sp>
      <p:sp>
        <p:nvSpPr>
          <p:cNvPr id="27" name="Shape 24"/>
          <p:cNvSpPr/>
          <p:nvPr/>
        </p:nvSpPr>
        <p:spPr>
          <a:xfrm>
            <a:off x="14127480" y="2182190"/>
            <a:ext cx="2990088" cy="6078068"/>
          </a:xfrm>
          <a:prstGeom prst="roundRect">
            <a:avLst>
              <a:gd name="adj" fmla="val 4281"/>
            </a:avLst>
          </a:prstGeom>
          <a:solidFill>
            <a:srgbClr val="C8C6CE"/>
          </a:solidFill>
          <a:ln/>
        </p:spPr>
      </p:sp>
      <p:sp>
        <p:nvSpPr>
          <p:cNvPr id="28" name="Shape 25"/>
          <p:cNvSpPr/>
          <p:nvPr/>
        </p:nvSpPr>
        <p:spPr>
          <a:xfrm>
            <a:off x="14177772" y="2232482"/>
            <a:ext cx="2889504" cy="5977484"/>
          </a:xfrm>
          <a:prstGeom prst="roundRect">
            <a:avLst>
              <a:gd name="adj" fmla="val 4114"/>
            </a:avLst>
          </a:prstGeom>
          <a:solidFill>
            <a:srgbClr val="0B0B0F"/>
          </a:solidFill>
          <a:ln/>
        </p:spPr>
      </p:sp>
      <p:pic>
        <p:nvPicPr>
          <p:cNvPr id="29" name="Image 1" descr="slide-mobil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96644" y="2351354"/>
            <a:ext cx="2651760" cy="573974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15256764" y="2252599"/>
            <a:ext cx="731520" cy="60350"/>
          </a:xfrm>
          <a:prstGeom prst="roundRect">
            <a:avLst>
              <a:gd name="adj" fmla="val 50000"/>
            </a:avLst>
          </a:prstGeom>
          <a:solidFill>
            <a:srgbClr val="2A2A32"/>
          </a:solidFill>
          <a:ln/>
        </p:spPr>
      </p:sp>
      <p:sp>
        <p:nvSpPr>
          <p:cNvPr id="31" name="Shape 27"/>
          <p:cNvSpPr/>
          <p:nvPr/>
        </p:nvSpPr>
        <p:spPr>
          <a:xfrm>
            <a:off x="14095476" y="3142310"/>
            <a:ext cx="45720" cy="256032"/>
          </a:xfrm>
          <a:prstGeom prst="roundRect">
            <a:avLst>
              <a:gd name="adj" fmla="val 50000"/>
            </a:avLst>
          </a:prstGeom>
          <a:solidFill>
            <a:srgbClr val="A9A7B0"/>
          </a:solidFill>
          <a:ln/>
        </p:spPr>
      </p:sp>
      <p:sp>
        <p:nvSpPr>
          <p:cNvPr id="32" name="Shape 28"/>
          <p:cNvSpPr/>
          <p:nvPr/>
        </p:nvSpPr>
        <p:spPr>
          <a:xfrm>
            <a:off x="14095476" y="3553790"/>
            <a:ext cx="45720" cy="438912"/>
          </a:xfrm>
          <a:prstGeom prst="roundRect">
            <a:avLst>
              <a:gd name="adj" fmla="val 50000"/>
            </a:avLst>
          </a:prstGeom>
          <a:solidFill>
            <a:srgbClr val="A9A7B0"/>
          </a:solidFill>
          <a:ln/>
        </p:spPr>
      </p:sp>
      <p:sp>
        <p:nvSpPr>
          <p:cNvPr id="33" name="Shape 29"/>
          <p:cNvSpPr/>
          <p:nvPr/>
        </p:nvSpPr>
        <p:spPr>
          <a:xfrm>
            <a:off x="14095476" y="4120718"/>
            <a:ext cx="45720" cy="438912"/>
          </a:xfrm>
          <a:prstGeom prst="roundRect">
            <a:avLst>
              <a:gd name="adj" fmla="val 50000"/>
            </a:avLst>
          </a:prstGeom>
          <a:solidFill>
            <a:srgbClr val="A9A7B0"/>
          </a:solidFill>
          <a:ln/>
        </p:spPr>
      </p:sp>
      <p:sp>
        <p:nvSpPr>
          <p:cNvPr id="34" name="Shape 30"/>
          <p:cNvSpPr/>
          <p:nvPr/>
        </p:nvSpPr>
        <p:spPr>
          <a:xfrm>
            <a:off x="17103852" y="3754958"/>
            <a:ext cx="45720" cy="640080"/>
          </a:xfrm>
          <a:prstGeom prst="roundRect">
            <a:avLst>
              <a:gd name="adj" fmla="val 50000"/>
            </a:avLst>
          </a:prstGeom>
          <a:solidFill>
            <a:srgbClr val="A9A7B0"/>
          </a:solidFill>
          <a:ln/>
        </p:spPr>
      </p:sp>
      <p:sp>
        <p:nvSpPr>
          <p:cNvPr id="35" name="Text 31"/>
          <p:cNvSpPr/>
          <p:nvPr/>
        </p:nvSpPr>
        <p:spPr>
          <a:xfrm>
            <a:off x="16367760" y="94183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09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737360"/>
            <a:ext cx="4206240" cy="4206240"/>
          </a:xfrm>
          <a:prstGeom prst="ellipse">
            <a:avLst/>
          </a:prstGeom>
          <a:solidFill>
            <a:srgbClr val="9859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5453360" y="7269480"/>
            <a:ext cx="4754880" cy="4754880"/>
          </a:xfrm>
          <a:prstGeom prst="ellipse">
            <a:avLst/>
          </a:prstGeom>
          <a:solidFill>
            <a:srgbClr val="FE4CB9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280160" y="566928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1A004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56692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80160" y="1600200"/>
            <a:ext cx="9144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50" kern="0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THE JUDGES ASKED FOR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2103120"/>
            <a:ext cx="1508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box, </a:t>
            </a:r>
            <a:pPr indent="0" marL="0">
              <a:buNone/>
            </a:pPr>
            <a:r>
              <a:rPr lang="en-US" sz="50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ticked</a:t>
            </a:r>
            <a:pPr indent="0" marL="0">
              <a:buNone/>
            </a:pPr>
            <a:r>
              <a:rPr lang="en-US" sz="5000" b="1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5000" dirty="0"/>
          </a:p>
        </p:txBody>
      </p:sp>
      <p:sp>
        <p:nvSpPr>
          <p:cNvPr id="8" name="Shape 6"/>
          <p:cNvSpPr/>
          <p:nvPr/>
        </p:nvSpPr>
        <p:spPr>
          <a:xfrm>
            <a:off x="1280160" y="3685032"/>
            <a:ext cx="384048" cy="384048"/>
          </a:xfrm>
          <a:prstGeom prst="ellipse">
            <a:avLst/>
          </a:prstGeom>
          <a:solidFill>
            <a:srgbClr val="DFF5EC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36850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847088" y="365760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 four required items complete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280160" y="4553712"/>
            <a:ext cx="384048" cy="384048"/>
          </a:xfrm>
          <a:prstGeom prst="ellipse">
            <a:avLst/>
          </a:prstGeom>
          <a:solidFill>
            <a:srgbClr val="DFF5EC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45537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847088" y="4526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Public repository, history preserved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280160" y="5422392"/>
            <a:ext cx="384048" cy="384048"/>
          </a:xfrm>
          <a:prstGeom prst="ellipse">
            <a:avLst/>
          </a:prstGeom>
          <a:solidFill>
            <a:srgbClr val="DFF5EC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5422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847088" y="539496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EVENT.md with the event start code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280160" y="6291072"/>
            <a:ext cx="384048" cy="384048"/>
          </a:xfrm>
          <a:prstGeom prst="ellipse">
            <a:avLst/>
          </a:prstGeom>
          <a:solidFill>
            <a:srgbClr val="DFF5EC"/>
          </a:solidFill>
          <a:ln/>
        </p:spPr>
      </p:sp>
      <p:sp>
        <p:nvSpPr>
          <p:cNvPr id="18" name="Text 16"/>
          <p:cNvSpPr/>
          <p:nvPr/>
        </p:nvSpPr>
        <p:spPr>
          <a:xfrm>
            <a:off x="1280160" y="62910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847088" y="626364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evaluation-manifest.json completed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280160" y="7159752"/>
            <a:ext cx="384048" cy="384048"/>
          </a:xfrm>
          <a:prstGeom prst="ellipse">
            <a:avLst/>
          </a:prstGeom>
          <a:solidFill>
            <a:srgbClr val="DFF5EC"/>
          </a:solidFill>
          <a:ln/>
        </p:spPr>
      </p:sp>
      <p:sp>
        <p:nvSpPr>
          <p:cNvPr id="21" name="Text 19"/>
          <p:cNvSpPr/>
          <p:nvPr/>
        </p:nvSpPr>
        <p:spPr>
          <a:xfrm>
            <a:off x="1280160" y="71597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847088" y="713232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LICENSES.md — every library declared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9326880" y="3685032"/>
            <a:ext cx="384048" cy="384048"/>
          </a:xfrm>
          <a:prstGeom prst="ellipse">
            <a:avLst/>
          </a:prstGeom>
          <a:solidFill>
            <a:srgbClr val="DFF5EC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36850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893808" y="365760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 assistance disclosed in full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326880" y="4553712"/>
            <a:ext cx="384048" cy="384048"/>
          </a:xfrm>
          <a:prstGeom prst="ellipse">
            <a:avLst/>
          </a:prstGeom>
          <a:solidFill>
            <a:srgbClr val="DFF5EC"/>
          </a:solidFill>
          <a:ln/>
        </p:spPr>
      </p:sp>
      <p:sp>
        <p:nvSpPr>
          <p:cNvPr id="27" name="Text 25"/>
          <p:cNvSpPr/>
          <p:nvPr/>
        </p:nvSpPr>
        <p:spPr>
          <a:xfrm>
            <a:off x="9326880" y="45537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893808" y="4526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key, token or personal data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9326880" y="5422392"/>
            <a:ext cx="384048" cy="384048"/>
          </a:xfrm>
          <a:prstGeom prst="ellipse">
            <a:avLst/>
          </a:prstGeom>
          <a:solidFill>
            <a:srgbClr val="DFF5EC"/>
          </a:solidFill>
          <a:ln/>
        </p:spPr>
      </p:sp>
      <p:sp>
        <p:nvSpPr>
          <p:cNvPr id="30" name="Text 28"/>
          <p:cNvSpPr/>
          <p:nvPr/>
        </p:nvSpPr>
        <p:spPr>
          <a:xfrm>
            <a:off x="9326880" y="5422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893808" y="539496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Published fixture, unmodified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9326880" y="6291072"/>
            <a:ext cx="384048" cy="384048"/>
          </a:xfrm>
          <a:prstGeom prst="ellipse">
            <a:avLst/>
          </a:prstGeom>
          <a:solidFill>
            <a:srgbClr val="DFF5EC"/>
          </a:solidFill>
          <a:ln/>
        </p:spPr>
      </p:sp>
      <p:sp>
        <p:nvSpPr>
          <p:cNvPr id="33" name="Text 31"/>
          <p:cNvSpPr/>
          <p:nvPr/>
        </p:nvSpPr>
        <p:spPr>
          <a:xfrm>
            <a:off x="9326880" y="62910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893808" y="626364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README maps each requirement to proof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9326880" y="7159752"/>
            <a:ext cx="384048" cy="384048"/>
          </a:xfrm>
          <a:prstGeom prst="ellipse">
            <a:avLst/>
          </a:prstGeom>
          <a:solidFill>
            <a:srgbClr val="DFF5EC"/>
          </a:solidFill>
          <a:ln/>
        </p:spPr>
      </p:sp>
      <p:sp>
        <p:nvSpPr>
          <p:cNvPr id="36" name="Text 34"/>
          <p:cNvSpPr/>
          <p:nvPr/>
        </p:nvSpPr>
        <p:spPr>
          <a:xfrm>
            <a:off x="9326880" y="71597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8F6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893808" y="713232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Committer identities declared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280160" y="8366760"/>
            <a:ext cx="15727680" cy="1051560"/>
          </a:xfrm>
          <a:prstGeom prst="roundRect">
            <a:avLst>
              <a:gd name="adj" fmla="val 10435"/>
            </a:avLst>
          </a:prstGeom>
          <a:solidFill>
            <a:srgbClr val="FFE6F5"/>
          </a:solidFill>
          <a:ln/>
        </p:spPr>
      </p:sp>
      <p:sp>
        <p:nvSpPr>
          <p:cNvPr id="39" name="Text 37"/>
          <p:cNvSpPr/>
          <p:nvPr/>
        </p:nvSpPr>
        <p:spPr>
          <a:xfrm>
            <a:off x="1691640" y="8549640"/>
            <a:ext cx="1499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Known limitations are stated plainly in the README — including where the forecast is weak and which receipts will not read.
</a:t>
            </a:r>
            <a:pPr indent="0" marL="0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FE4CB9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 would rather be trusted than impressive.</a:t>
            </a:r>
            <a:endParaRPr lang="en-US" sz="1550" dirty="0"/>
          </a:p>
        </p:txBody>
      </p:sp>
      <p:sp>
        <p:nvSpPr>
          <p:cNvPr id="40" name="Text 38"/>
          <p:cNvSpPr/>
          <p:nvPr/>
        </p:nvSpPr>
        <p:spPr>
          <a:xfrm>
            <a:off x="16367760" y="941832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80160" y="566928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1A0044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56692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CF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KHOROCH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-2926080" y="-3108960"/>
            <a:ext cx="8229600" cy="8229600"/>
          </a:xfrm>
          <a:prstGeom prst="ellipse">
            <a:avLst/>
          </a:prstGeom>
          <a:solidFill>
            <a:srgbClr val="9859FF">
              <a:alpha val="11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4081760" y="5897880"/>
            <a:ext cx="7315200" cy="7315200"/>
          </a:xfrm>
          <a:prstGeom prst="ellipse">
            <a:avLst/>
          </a:prstGeom>
          <a:solidFill>
            <a:srgbClr val="FE4CB9">
              <a:alpha val="9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3566160"/>
            <a:ext cx="15727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b="1" spc="-15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THANK YOU</a:t>
            </a:r>
            <a:endParaRPr lang="en-US" sz="10000" dirty="0"/>
          </a:p>
        </p:txBody>
      </p:sp>
      <p:sp>
        <p:nvSpPr>
          <p:cNvPr id="7" name="Shape 5"/>
          <p:cNvSpPr/>
          <p:nvPr/>
        </p:nvSpPr>
        <p:spPr>
          <a:xfrm>
            <a:off x="8183880" y="5577840"/>
            <a:ext cx="1920240" cy="109728"/>
          </a:xfrm>
          <a:prstGeom prst="rect">
            <a:avLst/>
          </a:prstGeom>
          <a:solidFill>
            <a:srgbClr val="FE4CB9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5943600"/>
            <a:ext cx="1572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খরচ  ·  Khoroch — a personal ledger you can actually check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7315200"/>
            <a:ext cx="1572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300" kern="0" dirty="0">
                <a:solidFill>
                  <a:srgbClr val="1A004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TEAM LOGARITHM   ·   LSH26-T033   ·   PROBLEM P12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80160" y="7863840"/>
            <a:ext cx="1572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0808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Oitijya Islam Auvro     ·     Md. Nafiz Ahmed     ·     Dewan Salman Rahman Zisan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8503920"/>
            <a:ext cx="1572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859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github.com/AuvroIslam/lsh26-t033-p12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2026-08-30T15:47:05Z</dcterms:created>
  <dcterms:modified xsi:type="dcterms:W3CDTF">2026-08-30T15:47:05Z</dcterms:modified>
</cp:coreProperties>
</file>