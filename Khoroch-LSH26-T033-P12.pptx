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2377440" y="-2560320"/>
            <a:ext cx="6583680" cy="6583680"/>
          </a:xfrm>
          <a:prstGeom prst="ellipse">
            <a:avLst/>
          </a:prstGeom>
          <a:solidFill>
            <a:srgbClr val="9859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8803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spc="-1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9200" dirty="0"/>
          </a:p>
        </p:txBody>
      </p:sp>
      <p:sp>
        <p:nvSpPr>
          <p:cNvPr id="7" name="Shape 5"/>
          <p:cNvSpPr/>
          <p:nvPr/>
        </p:nvSpPr>
        <p:spPr>
          <a:xfrm>
            <a:off x="1335024" y="4709160"/>
            <a:ext cx="1920240" cy="109728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খরচ  ·  Bengali for "expense"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571500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personal ledger that reads your receipts,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forecasts your month, and plans your savings.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1280160" y="7635240"/>
            <a:ext cx="7680960" cy="1325880"/>
          </a:xfrm>
          <a:prstGeom prst="roundRect">
            <a:avLst>
              <a:gd name="adj" fmla="val 11034"/>
            </a:avLst>
          </a:prstGeom>
          <a:solidFill>
            <a:srgbClr val="F6F2FD"/>
          </a:solidFill>
          <a:ln w="15875">
            <a:solidFill>
              <a:srgbClr val="985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78638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LOGARITHM</a:t>
            </a:r>
            <a:pPr indent="0" marL="0">
              <a:buNone/>
            </a:pPr>
            <a:r>
              <a:rPr lang="en-US" sz="17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LSH26-T033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8321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P12  ·  Personal Ledger Manager  ·  Tier 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0" y="39319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4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12252960" y="5349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REQUIREMENTS COMPLETE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350240" y="5989320"/>
            <a:ext cx="2560320" cy="0"/>
          </a:xfrm>
          <a:prstGeom prst="line">
            <a:avLst/>
          </a:prstGeom>
          <a:noFill/>
          <a:ln w="15875">
            <a:solidFill>
              <a:srgbClr val="985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0" y="6172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tests   ·   25 sample cases   ·   0 API keys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1508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7400"/>
              </a:lnSpc>
              <a:buNone/>
            </a:pPr>
            <a:r>
              <a:rPr lang="en-US" sz="54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know what you </a:t>
            </a:r>
            <a:pPr indent="0" marL="0">
              <a:lnSpc>
                <a:spcPts val="7400"/>
              </a:lnSpc>
              <a:buNone/>
            </a:pPr>
            <a:r>
              <a:rPr lang="en-US" sz="54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earn</a:t>
            </a:r>
            <a:pPr indent="0" marL="0">
              <a:lnSpc>
                <a:spcPts val="7400"/>
              </a:lnSpc>
              <a:buNone/>
            </a:pPr>
            <a:r>
              <a:rPr lang="en-US" sz="54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400" dirty="0"/>
          </a:p>
          <a:p>
            <a:pPr indent="0" marL="0">
              <a:lnSpc>
                <a:spcPts val="7400"/>
              </a:lnSpc>
              <a:buNone/>
            </a:pPr>
            <a:r>
              <a:rPr lang="en-US" sz="54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have no idea what you </a:t>
            </a:r>
            <a:pPr indent="0" marL="0">
              <a:lnSpc>
                <a:spcPts val="7400"/>
              </a:lnSpc>
              <a:buNone/>
            </a:pPr>
            <a:r>
              <a:rPr lang="en-US" sz="54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spend</a:t>
            </a:r>
            <a:pPr indent="0" marL="0">
              <a:lnSpc>
                <a:spcPts val="7400"/>
              </a:lnSpc>
              <a:buNone/>
            </a:pPr>
            <a:r>
              <a:rPr lang="en-US" sz="54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280160" y="5212080"/>
            <a:ext cx="82296" cy="1463040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521208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RECEIPTS PILE UP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5687568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Typing every bill by hand is the reason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nobody keeps a ledger for a whole month.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35440" y="5212080"/>
            <a:ext cx="82296" cy="1463040"/>
          </a:xfrm>
          <a:prstGeom prst="rect">
            <a:avLst/>
          </a:prstGeom>
          <a:solidFill>
            <a:srgbClr val="9859FF"/>
          </a:solidFill>
          <a:ln/>
        </p:spPr>
      </p:sp>
      <p:sp>
        <p:nvSpPr>
          <p:cNvPr id="12" name="Text 10"/>
          <p:cNvSpPr/>
          <p:nvPr/>
        </p:nvSpPr>
        <p:spPr>
          <a:xfrm>
            <a:off x="9646920" y="521208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MONTH ENDS IN SURPRISE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46920" y="5687568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Spending feels fine on the 17th.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shortfall only appears on the 30th.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7360920"/>
            <a:ext cx="82296" cy="1463040"/>
          </a:xfrm>
          <a:prstGeom prst="rect">
            <a:avLst/>
          </a:prstGeom>
          <a:solidFill>
            <a:srgbClr val="0A8F63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736092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ADVICE IS USELESS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7836408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"Spend less on food" helps nobody.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"Mobile is up ৳2,500" is actionable.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35440" y="7360920"/>
            <a:ext cx="82296" cy="1463040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736092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SAVING HAS NO DEADLINE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46920" y="7836408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target with no date — and no idea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whether this month can even afford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1508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ledger. </a:t>
            </a:r>
            <a:pPr indent="0" marL="0">
              <a:buNone/>
            </a:pPr>
            <a:r>
              <a:rPr lang="en-US" sz="54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answers.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80160" y="3246120"/>
            <a:ext cx="1508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runs in the browser — no account, no server, no API key.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280160" y="411480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FE4C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4526280"/>
            <a:ext cx="960120" cy="658368"/>
          </a:xfrm>
          <a:prstGeom prst="roundRect">
            <a:avLst>
              <a:gd name="adj" fmla="val 16667"/>
            </a:avLst>
          </a:prstGeom>
          <a:solidFill>
            <a:srgbClr val="FFE6F5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452628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54406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spc="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THE RECEIPT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63550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Photograph a bill. We show what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read — and let you fix it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anything is saved.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411480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4526280"/>
            <a:ext cx="960120" cy="658368"/>
          </a:xfrm>
          <a:prstGeom prst="roundRect">
            <a:avLst>
              <a:gd name="adj" fmla="val 16667"/>
            </a:avLst>
          </a:prstGeom>
          <a:solidFill>
            <a:srgbClr val="EDE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452628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23560" y="54406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spc="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THE MONTH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23560" y="63550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Spend against salary, by category,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largest charges, and the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 since last month.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35440" y="411480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0A8F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4526280"/>
            <a:ext cx="960120" cy="658368"/>
          </a:xfrm>
          <a:prstGeom prst="roundRect">
            <a:avLst>
              <a:gd name="adj" fmla="val 16667"/>
            </a:avLst>
          </a:prstGeom>
          <a:solidFill>
            <a:srgbClr val="DFF5EC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452628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01200" y="54406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spc="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 THE ENDING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0" y="63550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the month lands, and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insights that name real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categories and real amounts.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213080" y="411480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FE4C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78840" y="4526280"/>
            <a:ext cx="960120" cy="658368"/>
          </a:xfrm>
          <a:prstGeom prst="roundRect">
            <a:avLst>
              <a:gd name="adj" fmla="val 16667"/>
            </a:avLst>
          </a:prstGeom>
          <a:solidFill>
            <a:srgbClr val="FFE6F5"/>
          </a:solidFill>
          <a:ln/>
        </p:spPr>
      </p:sp>
      <p:sp>
        <p:nvSpPr>
          <p:cNvPr id="26" name="Text 24"/>
          <p:cNvSpPr/>
          <p:nvPr/>
        </p:nvSpPr>
        <p:spPr>
          <a:xfrm>
            <a:off x="13578840" y="452628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3578840" y="54406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spc="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THE SAVING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578840" y="63550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Pockets with completion dates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the forecast, and a DPS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comparison at a stated rate.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1508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layers. </a:t>
            </a:r>
            <a:pPr indent="0" marL="0">
              <a:buNone/>
            </a:pPr>
            <a:r>
              <a:rPr lang="en-US" sz="50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Pure engines.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1280160" y="3520440"/>
            <a:ext cx="9692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4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6667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SCREENS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408736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· Expenses · Forecast · Pockets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612880" y="38313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per requirement. Never computes money.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97880" y="46085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4892040"/>
            <a:ext cx="9692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50383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545896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Zustand · salary, expenses, pockets, audit trail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612880" y="52029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source of truth, persisted locally.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7880" y="59801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6263640"/>
            <a:ext cx="9692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8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64099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683056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· insight · receipt · pocket · fixture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612880" y="65745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Pure functions. No React. Directly testable.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97880" y="73517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80160" y="7635240"/>
            <a:ext cx="9692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0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7781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PRIMITIVES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45920" y="820216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money.ts — integer paisa  ·  dates.ts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612880" y="79461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amount an integer. Never a float.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80160" y="9144000"/>
            <a:ext cx="15727680" cy="713232"/>
          </a:xfrm>
          <a:prstGeom prst="roundRect">
            <a:avLst>
              <a:gd name="adj" fmla="val 15385"/>
            </a:avLst>
          </a:prstGeom>
          <a:solidFill>
            <a:srgbClr val="EDE4FF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9308592"/>
            <a:ext cx="1499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matters:   </a:t>
            </a:r>
            <a:pPr indent="0" marL="0">
              <a:buNone/>
            </a:pPr>
            <a:r>
              <a:rPr lang="en-US" sz="15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 import nothing from React, so all 27 tests run on plain Node — no browser, no bundler, no mocking.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R1 · READING A RECEIPT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1508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never guess </a:t>
            </a:r>
            <a:pPr indent="0" marL="0">
              <a:buNone/>
            </a:pPr>
            <a:r>
              <a:rPr lang="en-US" sz="50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silently</a:t>
            </a:r>
            <a:pPr indent="0" marL="0">
              <a:buNone/>
            </a:pPr>
            <a:r>
              <a:rPr lang="en-US" sz="50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1508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OCR proposes. The user confirms. Nothing reaches the ledger in between.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280160" y="4069080"/>
            <a:ext cx="2697480" cy="78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069080"/>
            <a:ext cx="2697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77640" y="4114800"/>
            <a:ext cx="448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25696" y="4069080"/>
            <a:ext cx="2697480" cy="78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4069080"/>
            <a:ext cx="2697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23176" y="4114800"/>
            <a:ext cx="448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571232" y="4069080"/>
            <a:ext cx="2697480" cy="78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4069080"/>
            <a:ext cx="2697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68712" y="4114800"/>
            <a:ext cx="448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0716768" y="4069080"/>
            <a:ext cx="2697480" cy="786384"/>
          </a:xfrm>
          <a:prstGeom prst="roundRect">
            <a:avLst>
              <a:gd name="adj" fmla="val 50000"/>
            </a:avLst>
          </a:prstGeom>
          <a:solidFill>
            <a:srgbClr val="FE4CB9"/>
          </a:solidFill>
          <a:ln w="19050">
            <a:solidFill>
              <a:srgbClr val="FE4C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069080"/>
            <a:ext cx="2697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414248" y="4114800"/>
            <a:ext cx="448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3862304" y="4069080"/>
            <a:ext cx="2697480" cy="78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62304" y="4069080"/>
            <a:ext cx="2697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440680"/>
            <a:ext cx="749808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57150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 NAIVE PARSER GETS WRONG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91640" y="6309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Subtotal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74720" y="6309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1505.50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91640" y="6812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VAT 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74720" y="6812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75.28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7315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74720" y="73152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1580.78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7315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correct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91640" y="7818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74720" y="78181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2000.00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78181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  larger — but tendered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691640" y="8321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474720" y="8321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419.22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09760" y="5440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9509760" y="59893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external requests — engine, WASM core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language data are all self-hosted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509760" y="6675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 sec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9509760" y="72237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read a receipt photographed at an angle,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grey paper, under directional light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509760" y="7909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FIELD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9509760" y="845820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editable, with a confidence badge and a note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saying how the value was chosen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R3 · THE FORECAST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1554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obvious method was </a:t>
            </a:r>
            <a:pPr indent="0" marL="0">
              <a:buNone/>
            </a:pPr>
            <a:r>
              <a:rPr lang="en-US" sz="50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wrong</a:t>
            </a:r>
            <a:pPr indent="0" marL="0">
              <a:buNone/>
            </a:pPr>
            <a:r>
              <a:rPr lang="en-US" sz="50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1554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Rent lands once, early. A flat daily rate divides it across the days elapsed, then projects it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again across the days remaining — charging it two or three times over.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80160" y="4434840"/>
            <a:ext cx="877824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985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4709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PUB-17  ·  PROJECTED MONTH TOTAL  vs  ৳90,000 SALARY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91640" y="525780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FLAT 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5623560"/>
            <a:ext cx="6766560" cy="566928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562356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৳111,204   →   reported SHORT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64008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FIXED CHARGES HELD OUT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91640" y="6766560"/>
            <a:ext cx="3968496" cy="566928"/>
          </a:xfrm>
          <a:prstGeom prst="rect">
            <a:avLst/>
          </a:prstGeom>
          <a:solidFill>
            <a:srgbClr val="0A8F63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676656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৳65,204   →   in SURPLUS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78040" y="5193792"/>
            <a:ext cx="0" cy="2377440"/>
          </a:xfrm>
          <a:prstGeom prst="line">
            <a:avLst/>
          </a:prstGeom>
          <a:noFill/>
          <a:ln w="19050">
            <a:solidFill>
              <a:srgbClr val="1A004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720840" y="7571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of 25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698480" y="5038344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published cases had their surplus-or-shortfall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verdict REVERSED by the flat method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98480" y="5715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৳46,000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698480" y="6227064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largest single over-projection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old method produced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98480" y="6903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days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0698480" y="7415784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average spending — the materiality floor that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stops a ৳486 lunch counting as a fixed charge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280160" y="8321040"/>
            <a:ext cx="15727680" cy="1051560"/>
          </a:xfrm>
          <a:prstGeom prst="roundRect">
            <a:avLst>
              <a:gd name="adj" fmla="val 10435"/>
            </a:avLst>
          </a:prstGeom>
          <a:solidFill>
            <a:srgbClr val="EDE4FF"/>
          </a:solidFill>
          <a:ln/>
        </p:spPr>
      </p:sp>
      <p:sp>
        <p:nvSpPr>
          <p:cNvPr id="26" name="Text 24"/>
          <p:cNvSpPr/>
          <p:nvPr/>
        </p:nvSpPr>
        <p:spPr>
          <a:xfrm>
            <a:off x="1691640" y="8503920"/>
            <a:ext cx="1499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measured our own forecast against all 25 cases, found it reversed the answer on a quarter of them, and rewrote it.
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arithmetic is printed on screen so a judge can check it by hand.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1554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Money is </a:t>
            </a:r>
            <a:pPr indent="0" marL="0">
              <a:buNone/>
            </a:pPr>
            <a:r>
              <a:rPr lang="en-US" sz="48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integer paisa</a:t>
            </a:r>
            <a:pPr indent="0" marL="0">
              <a:buNone/>
            </a:pPr>
            <a:r>
              <a:rPr lang="en-US" sz="48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Never a float.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1554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fixture gives decimal strings. The DPS rule compounds monthly with half-up rounding at every step.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Floating point would drift in exactly the figures a judge recomputes by hand.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ASSERTIONS OVER THE PUBLISHED FIXTURE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50749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Money · paisa round-trip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760720" y="5120640"/>
            <a:ext cx="4206240" cy="310896"/>
          </a:xfrm>
          <a:prstGeom prst="rect">
            <a:avLst/>
          </a:prstGeom>
          <a:solidFill>
            <a:srgbClr val="F6F2FD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5120640"/>
            <a:ext cx="1261872" cy="310896"/>
          </a:xfrm>
          <a:prstGeom prst="rect">
            <a:avLst/>
          </a:prstGeom>
          <a:solidFill>
            <a:srgbClr val="0A8F63"/>
          </a:solidFill>
          <a:ln/>
        </p:spPr>
      </p:sp>
      <p:sp>
        <p:nvSpPr>
          <p:cNvPr id="13" name="Text 11"/>
          <p:cNvSpPr/>
          <p:nvPr/>
        </p:nvSpPr>
        <p:spPr>
          <a:xfrm>
            <a:off x="10104120" y="50749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80160" y="59436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DPS schedule &amp; compounding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760720" y="5989320"/>
            <a:ext cx="4206240" cy="310896"/>
          </a:xfrm>
          <a:prstGeom prst="rect">
            <a:avLst/>
          </a:prstGeom>
          <a:solidFill>
            <a:srgbClr val="F6F2FD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5989320"/>
            <a:ext cx="2103120" cy="310896"/>
          </a:xfrm>
          <a:prstGeom prst="rect">
            <a:avLst/>
          </a:prstGeom>
          <a:solidFill>
            <a:srgbClr val="9859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04120" y="59436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80160" y="68122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&amp; fixed charges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760720" y="6858000"/>
            <a:ext cx="4206240" cy="310896"/>
          </a:xfrm>
          <a:prstGeom prst="rect">
            <a:avLst/>
          </a:prstGeom>
          <a:solidFill>
            <a:srgbClr val="F6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0720" y="6858000"/>
            <a:ext cx="3785616" cy="310896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4120" y="68122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80160" y="768096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Receipt parser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760720" y="7726680"/>
            <a:ext cx="4206240" cy="310896"/>
          </a:xfrm>
          <a:prstGeom prst="rect">
            <a:avLst/>
          </a:prstGeom>
          <a:solidFill>
            <a:srgbClr val="F6F2FD"/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0" y="7726680"/>
            <a:ext cx="4206240" cy="310896"/>
          </a:xfrm>
          <a:prstGeom prst="rect">
            <a:avLst/>
          </a:prstGeom>
          <a:solidFill>
            <a:srgbClr val="0A8F63"/>
          </a:solidFill>
          <a:ln/>
        </p:spPr>
      </p:sp>
      <p:sp>
        <p:nvSpPr>
          <p:cNvPr id="25" name="Text 23"/>
          <p:cNvSpPr/>
          <p:nvPr/>
        </p:nvSpPr>
        <p:spPr>
          <a:xfrm>
            <a:off x="10104120" y="76809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1521440" y="4846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1,200+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13898880" y="48646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amounts round-trip to their exact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decimal string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521440" y="6035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25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13898880" y="60533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sample cases render every screen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no crash and no NaN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21440" y="7223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390 px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3898880" y="72420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on mobile: no overflow,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tap target under 40px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521440" y="8412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KEYS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13898880" y="84307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secret, token or account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anywhere in the repository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057400"/>
            <a:ext cx="1554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 a sample case. </a:t>
            </a:r>
            <a:pPr indent="0" marL="0">
              <a:buNone/>
            </a:pPr>
            <a:r>
              <a:rPr lang="en-US" sz="46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every figure.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2331720" y="3337560"/>
            <a:ext cx="13624560" cy="5440680"/>
          </a:xfrm>
          <a:prstGeom prst="roundRect">
            <a:avLst>
              <a:gd name="adj" fmla="val 2353"/>
            </a:avLst>
          </a:prstGeom>
          <a:solidFill>
            <a:srgbClr val="1A0044"/>
          </a:solidFill>
          <a:ln/>
        </p:spPr>
      </p:sp>
      <p:pic>
        <p:nvPicPr>
          <p:cNvPr id="8" name="Image 0" descr="slide-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3520440"/>
            <a:ext cx="13258800" cy="5074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17320" y="8851392"/>
            <a:ext cx="15453360" cy="274320"/>
          </a:xfrm>
          <a:prstGeom prst="roundRect">
            <a:avLst>
              <a:gd name="adj" fmla="val 50000"/>
            </a:avLst>
          </a:prstGeom>
          <a:solidFill>
            <a:srgbClr val="4A3570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9372600"/>
            <a:ext cx="1572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PUB-01  ·  17 April 2026  ·  ৳50,000 salary  ·  41 expenses  —  dashboard, forecast, insights and DPS all from one loaded case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A PHONE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10312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the device</a:t>
            </a:r>
            <a:endParaRPr lang="en-US" sz="46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actually </a:t>
            </a:r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carry</a:t>
            </a:r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1280160" y="4754880"/>
            <a:ext cx="82296" cy="868680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47091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8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HORIZONTAL SCROLL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64208" y="51480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any tab, verified at 390px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280160" y="5989320"/>
            <a:ext cx="82296" cy="868680"/>
          </a:xfrm>
          <a:prstGeom prst="rect">
            <a:avLst/>
          </a:prstGeom>
          <a:solidFill>
            <a:srgbClr val="9859FF"/>
          </a:solidFill>
          <a:ln/>
        </p:spPr>
      </p:sp>
      <p:sp>
        <p:nvSpPr>
          <p:cNvPr id="11" name="Text 9"/>
          <p:cNvSpPr/>
          <p:nvPr/>
        </p:nvSpPr>
        <p:spPr>
          <a:xfrm>
            <a:off x="1664208" y="59436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8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TAP TARGET UNDER 40px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664208" y="638251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Undo is 70×44 — it has a deadline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280160" y="7223760"/>
            <a:ext cx="82296" cy="868680"/>
          </a:xfrm>
          <a:prstGeom prst="rect">
            <a:avLst/>
          </a:prstGeom>
          <a:solidFill>
            <a:srgbClr val="0A8F63"/>
          </a:solidFill>
          <a:ln/>
        </p:spPr>
      </p:sp>
      <p:sp>
        <p:nvSpPr>
          <p:cNvPr id="14" name="Text 12"/>
          <p:cNvSpPr/>
          <p:nvPr/>
        </p:nvSpPr>
        <p:spPr>
          <a:xfrm>
            <a:off x="1664208" y="71780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8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TABLE ADAPTS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64208" y="76169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date rides under the shop name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instead of forcing the card wide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280160" y="8458200"/>
            <a:ext cx="82296" cy="868680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17" name="Text 15"/>
          <p:cNvSpPr/>
          <p:nvPr/>
        </p:nvSpPr>
        <p:spPr>
          <a:xfrm>
            <a:off x="1664208" y="84124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8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PHOTOGRAPH A BILL DIRECTLY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64208" y="885139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camera is the natural input here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332720" y="2103120"/>
            <a:ext cx="3063240" cy="6949440"/>
          </a:xfrm>
          <a:prstGeom prst="roundRect">
            <a:avLst>
              <a:gd name="adj" fmla="val 10746"/>
            </a:avLst>
          </a:prstGeom>
          <a:solidFill>
            <a:srgbClr val="1A0044"/>
          </a:solidFill>
          <a:ln/>
        </p:spPr>
      </p:sp>
      <p:pic>
        <p:nvPicPr>
          <p:cNvPr id="20" name="Image 0" descr="slide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2267712"/>
            <a:ext cx="2825496" cy="66202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3761720" y="2103120"/>
            <a:ext cx="3063240" cy="6949440"/>
          </a:xfrm>
          <a:prstGeom prst="roundRect">
            <a:avLst>
              <a:gd name="adj" fmla="val 10746"/>
            </a:avLst>
          </a:prstGeom>
          <a:solidFill>
            <a:srgbClr val="1A0044"/>
          </a:solidFill>
          <a:ln/>
        </p:spPr>
      </p:sp>
      <p:pic>
        <p:nvPicPr>
          <p:cNvPr id="22" name="Image 1" descr="slide-mobi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592" y="2267712"/>
            <a:ext cx="2825496" cy="66202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9859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53360" y="7269480"/>
            <a:ext cx="4754880" cy="4754880"/>
          </a:xfrm>
          <a:prstGeom prst="ellipse">
            <a:avLst/>
          </a:prstGeom>
          <a:solidFill>
            <a:srgbClr val="FE4CB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JUDGES ASKED FOR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1508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box, </a:t>
            </a:r>
            <a:pPr indent="0" marL="0">
              <a:buNone/>
            </a:pPr>
            <a:r>
              <a:rPr lang="en-US" sz="50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ticked</a:t>
            </a:r>
            <a:pPr indent="0" marL="0">
              <a:buNone/>
            </a:pPr>
            <a:r>
              <a:rPr lang="en-US" sz="5000" b="1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1280160" y="368503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47088" y="365760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four required items complete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80160" y="455371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47088" y="4526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repository, history preserved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80160" y="542239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422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47088" y="539496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EVENT.md with the event start code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0160" y="629107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6291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47088" y="62636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evaluation-manifest.json completed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80160" y="715975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7159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47088" y="713232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LICENSES.md — every library declared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326880" y="368503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893808" y="365760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assistance disclosed in full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326880" y="455371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93808" y="4526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key, token or personal data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326880" y="542239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0" y="5422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93808" y="539496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Published fixture, unmodified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326880" y="629107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6291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93808" y="62636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README maps each requirement to proof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326880" y="7159752"/>
            <a:ext cx="384048" cy="384048"/>
          </a:xfrm>
          <a:prstGeom prst="ellipse">
            <a:avLst/>
          </a:prstGeom>
          <a:solidFill>
            <a:srgbClr val="DFF5EC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0" y="7159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F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93808" y="713232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Committer identities declared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280160" y="8366760"/>
            <a:ext cx="15727680" cy="1051560"/>
          </a:xfrm>
          <a:prstGeom prst="roundRect">
            <a:avLst>
              <a:gd name="adj" fmla="val 10435"/>
            </a:avLst>
          </a:prstGeom>
          <a:solidFill>
            <a:srgbClr val="FFE6F5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" y="8549640"/>
            <a:ext cx="1499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Known limitations are stated plainly in the README — including where the forecast is weak and which receipts will not read.
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E4CB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would rather be trusted than impressive.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6367760" y="9418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56692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A0044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566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KHOROCH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-2926080" y="-3108960"/>
            <a:ext cx="8229600" cy="8229600"/>
          </a:xfrm>
          <a:prstGeom prst="ellipse">
            <a:avLst/>
          </a:prstGeom>
          <a:solidFill>
            <a:srgbClr val="9859FF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081760" y="5897880"/>
            <a:ext cx="7315200" cy="7315200"/>
          </a:xfrm>
          <a:prstGeom prst="ellipse">
            <a:avLst/>
          </a:prstGeom>
          <a:solidFill>
            <a:srgbClr val="FE4CB9">
              <a:alpha val="9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3566160"/>
            <a:ext cx="1572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spc="-15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8183880" y="5577840"/>
            <a:ext cx="1920240" cy="109728"/>
          </a:xfrm>
          <a:prstGeom prst="rect">
            <a:avLst/>
          </a:prstGeom>
          <a:solidFill>
            <a:srgbClr val="FE4CB9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5943600"/>
            <a:ext cx="1572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খরচ  ·  Khoroch — a personal ledger you can actually check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7315200"/>
            <a:ext cx="1572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A00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LOGARITHM   ·   LSH26-T033   ·   PROBLEM P12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7863840"/>
            <a:ext cx="1572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Oitijya Islam Auvro     ·     Md. Nafiz Ahmed     ·     Dewan Salman Rahman Zisan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8503920"/>
            <a:ext cx="1572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859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github.com/AuvroIslam/lsh26-t033-p12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2026-08-30T15:40:17Z</dcterms:created>
  <dcterms:modified xsi:type="dcterms:W3CDTF">2026-08-30T15:40:17Z</dcterms:modified>
</cp:coreProperties>
</file>