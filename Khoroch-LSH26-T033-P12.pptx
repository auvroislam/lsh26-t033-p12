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-2011680" y="-2011680"/>
            <a:ext cx="6400800" cy="6400800"/>
          </a:xfrm>
          <a:prstGeom prst="ellipse">
            <a:avLst/>
          </a:prstGeom>
          <a:solidFill>
            <a:srgbClr val="9859FF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4023360"/>
            <a:ext cx="5486400" cy="5486400"/>
          </a:xfrm>
          <a:prstGeom prst="ellipse">
            <a:avLst/>
          </a:prstGeom>
          <a:solidFill>
            <a:srgbClr val="FE4CB9">
              <a:alpha val="9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5740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spc="-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7600" dirty="0"/>
          </a:p>
        </p:txBody>
      </p:sp>
      <p:sp>
        <p:nvSpPr>
          <p:cNvPr id="6" name="Shape 4"/>
          <p:cNvSpPr/>
          <p:nvPr/>
        </p:nvSpPr>
        <p:spPr>
          <a:xfrm>
            <a:off x="868680" y="3401568"/>
            <a:ext cx="1371600" cy="6858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611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খরচ · Bengali for "expense"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personal ledger that reads your receipts,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forecasts your month, and plans your savings.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5212080"/>
            <a:ext cx="5394960" cy="960120"/>
          </a:xfrm>
          <a:prstGeom prst="roundRect">
            <a:avLst>
              <a:gd name="adj" fmla="val 11429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537667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LOGARITHM</a:t>
            </a:r>
            <a:pPr indent="0" marL="0">
              <a:buNone/>
            </a:pPr>
            <a:r>
              <a:rPr lang="en-US" sz="13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LSH26-T033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6692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 P12 · Personal Ledger Manager · Tier 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/ 4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138160" y="32735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REQUIREMENTS COMPLETE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0" y="3703320"/>
            <a:ext cx="2194560" cy="0"/>
          </a:xfrm>
          <a:prstGeom prst="line">
            <a:avLst/>
          </a:prstGeom>
          <a:noFill/>
          <a:ln w="12700">
            <a:solidFill>
              <a:srgbClr val="985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3840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 tests · 25 sample cases · 0 API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326880" y="-1463040"/>
            <a:ext cx="5029200" cy="5029200"/>
          </a:xfrm>
          <a:prstGeom prst="ellipse">
            <a:avLst/>
          </a:prstGeom>
          <a:solidFill>
            <a:srgbClr val="FE4CB9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8138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know what you </a:t>
            </a:r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earn</a:t>
            </a:r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have no idea what you </a:t>
            </a:r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</a:t>
            </a:r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50292" cy="105156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20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RECEIPTS PILE 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8404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Typing every bill by hand is the reason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nobody keeps a ledger for more than a week.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3520440"/>
            <a:ext cx="50292" cy="105156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520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MONTH ENDS IN SURPRISE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8404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Spending feels fine on the 17th.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shortfall only shows up on the 30th.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50292" cy="105156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983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ADVICE IS USELESS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530352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"Spend less on food" helps nobody.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"Mobile is up ৳2,500" is actionable.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0" y="4983480"/>
            <a:ext cx="50292" cy="105156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4983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SAVING HAS NO DEADLINE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530352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target with no date, and no idea whether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month can even afford it.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-1645920" y="4206240"/>
            <a:ext cx="5486400" cy="5486400"/>
          </a:xfrm>
          <a:prstGeom prst="ellipse">
            <a:avLst/>
          </a:prstGeom>
          <a:solidFill>
            <a:srgbClr val="9859FF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ledger. </a:t>
            </a:r>
            <a:pPr indent="0" marL="0">
              <a:buNone/>
            </a:pPr>
            <a:r>
              <a:rPr lang="en-US" sz="40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answers.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2128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runs in the browser — no account, no server, no API key.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12002F"/>
          </a:solidFill>
          <a:ln w="15875">
            <a:solidFill>
              <a:srgbClr val="FE4CB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312724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78992" y="3639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spc="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THE RECEIPT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78992" y="4224528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Photograph a bill. We show what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read — and let you fix it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before anything is saved.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2880360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12002F"/>
          </a:solidFill>
          <a:ln w="15875">
            <a:solidFill>
              <a:srgbClr val="9859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67912" y="312724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867912" y="3639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spc="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SEE THE MONTH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867912" y="4224528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 against salary, by category,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largest charges, and the change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since last month.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0" y="2880360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12002F"/>
          </a:solidFill>
          <a:ln w="15875">
            <a:solidFill>
              <a:srgbClr val="3DD9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312724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56832" y="3639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spc="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 THE ENDING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56832" y="4224528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 month lands, and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insights that name real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categories and real amounts.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89720" y="2880360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12002F"/>
          </a:solidFill>
          <a:ln w="15875">
            <a:solidFill>
              <a:srgbClr val="FE4C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5752" y="312724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445752" y="3639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spc="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THE SAVING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445752" y="4224528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Pockets with completion dates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from the forecast, and a DPS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comparison at a stated rate.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Strict layers. </a:t>
            </a:r>
            <a:pPr indent="0" marL="0">
              <a:buNone/>
            </a:pPr>
            <a:r>
              <a:rPr lang="en-US" sz="36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Pure engines.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6858000" cy="786384"/>
          </a:xfrm>
          <a:prstGeom prst="roundRect">
            <a:avLst>
              <a:gd name="adj" fmla="val 9302"/>
            </a:avLst>
          </a:prstGeom>
          <a:solidFill>
            <a:srgbClr val="12002F"/>
          </a:solidFill>
          <a:ln w="12700">
            <a:solidFill>
              <a:srgbClr val="FE4C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5146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SCREENS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807208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 · Expenses · Forecast · Pockets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909560" y="263347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per requirement. Never computes money.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3163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3337560"/>
            <a:ext cx="6858000" cy="786384"/>
          </a:xfrm>
          <a:prstGeom prst="roundRect">
            <a:avLst>
              <a:gd name="adj" fmla="val 9302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4564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74904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Zustand · salary, expenses, pockets, audit trail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09560" y="357530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source of truth, persisted locally.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4105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22960" y="4279392"/>
            <a:ext cx="6858000" cy="786384"/>
          </a:xfrm>
          <a:prstGeom prst="roundRect">
            <a:avLst>
              <a:gd name="adj" fmla="val 9302"/>
            </a:avLst>
          </a:prstGeom>
          <a:solidFill>
            <a:srgbClr val="12002F"/>
          </a:solidFill>
          <a:ln w="12700">
            <a:solidFill>
              <a:srgbClr val="3DD9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39826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469087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 · insight · receipt · pocket · fixture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909560" y="451713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Pure functions. No React. Directly testable.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504748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22960" y="5221224"/>
            <a:ext cx="6858000" cy="786384"/>
          </a:xfrm>
          <a:prstGeom prst="roundRect">
            <a:avLst>
              <a:gd name="adj" fmla="val 9302"/>
            </a:avLst>
          </a:prstGeom>
          <a:solidFill>
            <a:srgbClr val="12002F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534009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PRIMITIVES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5632704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money.ts — integer paisa · dates.ts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09560" y="5458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amount is an integer. Never a float.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6144768"/>
            <a:ext cx="10515600" cy="438912"/>
          </a:xfrm>
          <a:prstGeom prst="roundRect">
            <a:avLst>
              <a:gd name="adj" fmla="val 16667"/>
            </a:avLst>
          </a:prstGeom>
          <a:solidFill>
            <a:srgbClr val="2A0F5C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624535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matters:  </a:t>
            </a:r>
            <a:pPr indent="0" marL="0"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services import nothing from React, so all 27 tests run on plain Node — no browser, no bundler, no mocking.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961120" y="3566160"/>
            <a:ext cx="4572000" cy="4572000"/>
          </a:xfrm>
          <a:prstGeom prst="ellipse">
            <a:avLst/>
          </a:prstGeom>
          <a:solidFill>
            <a:srgbClr val="FE4CB9">
              <a:alpha val="9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R1 · READING A RECEIPT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never guess </a:t>
            </a:r>
            <a:pPr indent="0" marL="0">
              <a:buNone/>
            </a:pPr>
            <a:r>
              <a:rPr lang="en-US" sz="3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silently</a:t>
            </a:r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OCR proposes. The user confirms. Nothing reaches the ledger in between.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1810512" cy="566928"/>
          </a:xfrm>
          <a:prstGeom prst="roundRect">
            <a:avLst>
              <a:gd name="adj" fmla="val 50000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89504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33472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07792" y="2743200"/>
            <a:ext cx="1810512" cy="566928"/>
          </a:xfrm>
          <a:prstGeom prst="roundRect">
            <a:avLst>
              <a:gd name="adj" fmla="val 50000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07792" y="2889504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PREPROCESS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18304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92624" y="2743200"/>
            <a:ext cx="1810512" cy="566928"/>
          </a:xfrm>
          <a:prstGeom prst="roundRect">
            <a:avLst>
              <a:gd name="adj" fmla="val 50000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92624" y="2889504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OCR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03136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077456" y="2743200"/>
            <a:ext cx="1810512" cy="566928"/>
          </a:xfrm>
          <a:prstGeom prst="roundRect">
            <a:avLst>
              <a:gd name="adj" fmla="val 50000"/>
            </a:avLst>
          </a:prstGeom>
          <a:solidFill>
            <a:srgbClr val="FE4CB9"/>
          </a:solidFill>
          <a:ln w="12700">
            <a:solidFill>
              <a:srgbClr val="FE4C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77456" y="2889504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87968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62288" y="2743200"/>
            <a:ext cx="1810512" cy="566928"/>
          </a:xfrm>
          <a:prstGeom prst="roundRect">
            <a:avLst>
              <a:gd name="adj" fmla="val 50000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288" y="2889504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5029200" cy="2331720"/>
          </a:xfrm>
          <a:prstGeom prst="roundRect">
            <a:avLst>
              <a:gd name="adj" fmla="val 3922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39319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A NAIVE PARSER GETS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" y="43159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Subtotal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286000" y="43159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1505.50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051560" y="46451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VAT 5%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286000" y="46451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75.28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" y="49743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286000" y="49743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1580.78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383280" y="497433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✓ correct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51560" y="5303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Cash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286000" y="5303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2000.00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383280" y="5303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✗ larger — but tendered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563270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Change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286000" y="563270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419.22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263640" y="3749040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ZERO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8183880" y="376732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external requests — engine, WASM core and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language data are all self-hosted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63640" y="45445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~2s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8183880" y="456285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a receipt photographed at an angle,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grey paper, under directional light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63640" y="5340096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FIELD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8183880" y="5358384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editable, with a confidence badge and a note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saying how the value was chosen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R3 · THE FORECAST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obvious method was </a:t>
            </a:r>
            <a:pPr indent="0" marL="0">
              <a:buNone/>
            </a:pPr>
            <a:r>
              <a:rPr lang="en-US" sz="3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wrong</a:t>
            </a:r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Rent lands once, early. A flat daily rate divides it across the days elapsed, then projects it again across the days remaining — charging it two or three times over.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6035040" cy="2286000"/>
          </a:xfrm>
          <a:prstGeom prst="roundRect">
            <a:avLst>
              <a:gd name="adj" fmla="val 4000"/>
            </a:avLst>
          </a:prstGeom>
          <a:solidFill>
            <a:srgbClr val="12002F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06324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PUB-17 · PROJECTED MONTH TOTAL vs ৳90,000 SALARY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51560" y="345643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FLAT RATE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1560" y="3730752"/>
            <a:ext cx="4663440" cy="36576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0" name="Text 8"/>
          <p:cNvSpPr/>
          <p:nvPr/>
        </p:nvSpPr>
        <p:spPr>
          <a:xfrm>
            <a:off x="1207008" y="37856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৳111,204  →  reported SHORT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42245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FIXED CHARGES HELD OUT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1560" y="4498848"/>
            <a:ext cx="2734056" cy="365760"/>
          </a:xfrm>
          <a:prstGeom prst="rect">
            <a:avLst/>
          </a:prstGeom>
          <a:solidFill>
            <a:srgbClr val="3DD9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07008" y="455371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৳65,204  →  actually in SURPLUS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13832" y="3401568"/>
            <a:ext cx="0" cy="1600200"/>
          </a:xfrm>
          <a:prstGeom prst="line">
            <a:avLst/>
          </a:prstGeom>
          <a:noFill/>
          <a:ln w="12700">
            <a:solidFill>
              <a:srgbClr val="FFFCF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257800" y="495604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salary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22376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 of 25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223760" y="330098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published cases had their surplus-or-shortfall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verdict REVERSED by the flat method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223760" y="374904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৳46,000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223760" y="40782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largest single over-projection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old method produced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223760" y="45262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days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223760" y="4855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average spending — the materiality floor that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stops a ৳486 lunch counting as a fixed charge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40680"/>
            <a:ext cx="10515600" cy="658368"/>
          </a:xfrm>
          <a:prstGeom prst="roundRect">
            <a:avLst>
              <a:gd name="adj" fmla="val 11111"/>
            </a:avLst>
          </a:prstGeom>
          <a:solidFill>
            <a:srgbClr val="2A0F5C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5961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measured our own forecast against all 25 cases, found it reversed the answer on a quarter of them, and rewrote it.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arithmetic is printed on screen so a judge can check it by hand.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CORRECTNESS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 is </a:t>
            </a:r>
            <a:pPr indent="0" marL="0">
              <a:buNone/>
            </a:pPr>
            <a:r>
              <a:rPr lang="en-US" sz="3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integer paisa</a:t>
            </a:r>
            <a:pPr indent="0" marL="0">
              <a:buNone/>
            </a:pPr>
            <a:r>
              <a:rPr lang="en-US" sz="34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Never a float.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fixture gives decimal strings. The DPS rule compounds monthly with half-up rounding at every step. Floating point would drift in exactly the figures a judge recomputes by hand.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 ASSERTIONS OVER THE PUBLISHED FIXTURE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 · paisa round-trip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77640" y="3328416"/>
            <a:ext cx="3291840" cy="237744"/>
          </a:xfrm>
          <a:prstGeom prst="rect">
            <a:avLst/>
          </a:prstGeom>
          <a:solidFill>
            <a:srgbClr val="2A0F5C"/>
          </a:solidFill>
          <a:ln/>
        </p:spPr>
      </p:sp>
      <p:sp>
        <p:nvSpPr>
          <p:cNvPr id="9" name="Shape 7"/>
          <p:cNvSpPr/>
          <p:nvPr/>
        </p:nvSpPr>
        <p:spPr>
          <a:xfrm>
            <a:off x="3977640" y="3328416"/>
            <a:ext cx="987552" cy="237744"/>
          </a:xfrm>
          <a:prstGeom prst="rect">
            <a:avLst/>
          </a:prstGeom>
          <a:solidFill>
            <a:srgbClr val="3DD9A0"/>
          </a:solidFill>
          <a:ln/>
        </p:spPr>
      </p:sp>
      <p:sp>
        <p:nvSpPr>
          <p:cNvPr id="10" name="Text 8"/>
          <p:cNvSpPr/>
          <p:nvPr/>
        </p:nvSpPr>
        <p:spPr>
          <a:xfrm>
            <a:off x="7360920" y="3291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DPS schedule &amp; compounding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77640" y="3895344"/>
            <a:ext cx="3291840" cy="237744"/>
          </a:xfrm>
          <a:prstGeom prst="rect">
            <a:avLst/>
          </a:prstGeom>
          <a:solidFill>
            <a:srgbClr val="2A0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3977640" y="3895344"/>
            <a:ext cx="1645920" cy="237744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385876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425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 &amp; fixed charges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77640" y="4462272"/>
            <a:ext cx="3291840" cy="237744"/>
          </a:xfrm>
          <a:prstGeom prst="rect">
            <a:avLst/>
          </a:prstGeom>
          <a:solidFill>
            <a:srgbClr val="2A0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3977640" y="4462272"/>
            <a:ext cx="2962656" cy="237744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8" name="Text 16"/>
          <p:cNvSpPr/>
          <p:nvPr/>
        </p:nvSpPr>
        <p:spPr>
          <a:xfrm>
            <a:off x="7360920" y="44256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9926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Receipt parser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977640" y="5029200"/>
            <a:ext cx="3291840" cy="237744"/>
          </a:xfrm>
          <a:prstGeom prst="rect">
            <a:avLst/>
          </a:prstGeom>
          <a:solidFill>
            <a:srgbClr val="2A0F5C"/>
          </a:solidFill>
          <a:ln/>
        </p:spPr>
      </p:sp>
      <p:sp>
        <p:nvSpPr>
          <p:cNvPr id="21" name="Shape 19"/>
          <p:cNvSpPr/>
          <p:nvPr/>
        </p:nvSpPr>
        <p:spPr>
          <a:xfrm>
            <a:off x="3977640" y="5029200"/>
            <a:ext cx="3291840" cy="237744"/>
          </a:xfrm>
          <a:prstGeom prst="rect">
            <a:avLst/>
          </a:prstGeom>
          <a:solidFill>
            <a:srgbClr val="3DD9A0"/>
          </a:solidFill>
          <a:ln/>
        </p:spPr>
      </p:sp>
      <p:sp>
        <p:nvSpPr>
          <p:cNvPr id="22" name="Text 20"/>
          <p:cNvSpPr/>
          <p:nvPr/>
        </p:nvSpPr>
        <p:spPr>
          <a:xfrm>
            <a:off x="7360920" y="49926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75320" y="2880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1,200+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692640" y="2898648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amounts round-trip to their exact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original decimal string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75320" y="37216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 / 25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692640" y="373989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sample cases render every screen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no crash and no NaN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75320" y="45628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390px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92640" y="4581144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verified on mobile: no overflow,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tap target under 40px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75320" y="540410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 KEYS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692640" y="5422392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secret, token or account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anywhere in the repository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35331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Load a sample case. </a:t>
            </a:r>
            <a:pPr indent="0" marL="0">
              <a:buNone/>
            </a:pPr>
            <a:r>
              <a:rPr lang="en-US" sz="32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every figure.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417320" y="2103120"/>
            <a:ext cx="9326880" cy="3703320"/>
          </a:xfrm>
          <a:prstGeom prst="roundRect">
            <a:avLst>
              <a:gd name="adj" fmla="val 2469"/>
            </a:avLst>
          </a:prstGeom>
          <a:solidFill>
            <a:srgbClr val="000000"/>
          </a:solidFill>
          <a:ln w="19050">
            <a:solidFill>
              <a:srgbClr val="9859FF"/>
            </a:solidFill>
            <a:prstDash val="solid"/>
          </a:ln>
        </p:spPr>
      </p:sp>
      <p:pic>
        <p:nvPicPr>
          <p:cNvPr id="6" name="Image 0" descr="slide-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2212848"/>
            <a:ext cx="9089136" cy="34838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5806440"/>
            <a:ext cx="10424160" cy="182880"/>
          </a:xfrm>
          <a:prstGeom prst="roundRect">
            <a:avLst>
              <a:gd name="adj" fmla="val 50000"/>
            </a:avLst>
          </a:prstGeom>
          <a:solidFill>
            <a:srgbClr val="3A3A55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PUB-01 · 17 April 2026 · ৳50,000 salary · 41 expenses · dashboard, forecast, insights and DPS all from one loaded case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686800" y="1097280"/>
            <a:ext cx="4572000" cy="457200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A PHONE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for the device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actually 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carry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45720" cy="54864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9260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HORIZONTAL SCROLL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any tab, verified at 390px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776472"/>
            <a:ext cx="45720" cy="54864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730752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TAP TARGET UNDER 40px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51560" y="40050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Undo is 70×44 — it has a deadline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4581144"/>
            <a:ext cx="45720" cy="54864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53542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TABLE ADAPTS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51560" y="480974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date rides under the shop name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instead of forcing the card wide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5385816"/>
            <a:ext cx="45720" cy="54864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34009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8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PHOTOGRAPH A BILL DIRECTLY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51560" y="56144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camera is the natural input here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20840" y="1371600"/>
            <a:ext cx="2194560" cy="4754880"/>
          </a:xfrm>
          <a:prstGeom prst="roundRect">
            <a:avLst>
              <a:gd name="adj" fmla="val 10833"/>
            </a:avLst>
          </a:prstGeom>
          <a:solidFill>
            <a:srgbClr val="000000"/>
          </a:solidFill>
          <a:ln w="19050">
            <a:solidFill>
              <a:srgbClr val="9859FF"/>
            </a:solidFill>
            <a:prstDash val="solid"/>
          </a:ln>
        </p:spPr>
      </p:sp>
      <p:pic>
        <p:nvPicPr>
          <p:cNvPr id="19" name="Image 0" descr="slid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81328"/>
            <a:ext cx="2011680" cy="453542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9144000" y="1371600"/>
            <a:ext cx="2194560" cy="4754880"/>
          </a:xfrm>
          <a:prstGeom prst="roundRect">
            <a:avLst>
              <a:gd name="adj" fmla="val 10833"/>
            </a:avLst>
          </a:prstGeom>
          <a:solidFill>
            <a:srgbClr val="000000"/>
          </a:solidFill>
          <a:ln w="19050">
            <a:solidFill>
              <a:srgbClr val="9859FF"/>
            </a:solidFill>
            <a:prstDash val="solid"/>
          </a:ln>
        </p:spPr>
      </p:sp>
      <p:pic>
        <p:nvPicPr>
          <p:cNvPr id="21" name="Image 1" descr="slide-mobi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481328"/>
            <a:ext cx="2011680" cy="453542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THE JUDGES ASKED FOR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box, </a:t>
            </a:r>
            <a:pPr indent="0" marL="0">
              <a:buNone/>
            </a:pPr>
            <a:r>
              <a:rPr lang="en-US" sz="36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ticked</a:t>
            </a:r>
            <a:pPr indent="0" marL="0">
              <a:buNone/>
            </a:pPr>
            <a:r>
              <a:rPr lang="en-US" sz="3600" b="1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2487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24871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four required items complete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5409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70432" y="3054096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repository, history preserved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62102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70432" y="3621024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EVENT.md with the event start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18795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70432" y="418795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evaluation-manifest.json completed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754880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70432" y="475488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LICENSES.md — every library declared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487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39712" y="24871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assistance disclosed in full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305409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39712" y="3054096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key, token or personal data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362102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39712" y="3621024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Published fixture, unmodified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418795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39712" y="418795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README maps each requirement to proof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754880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9A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39712" y="475488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Committer identities declared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2A0F5C"/>
          </a:solidFill>
          <a:ln w="12700">
            <a:solidFill>
              <a:srgbClr val="9859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Known limitations are stated plainly in the README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including where the forecast is weak and which receipts will not read.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would rather be trusted than impressive.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-2286000" y="-1828800"/>
            <a:ext cx="6858000" cy="6858000"/>
          </a:xfrm>
          <a:prstGeom prst="ellipse">
            <a:avLst/>
          </a:prstGeom>
          <a:solidFill>
            <a:srgbClr val="9859FF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0" y="3657600"/>
            <a:ext cx="5943600" cy="5943600"/>
          </a:xfrm>
          <a:prstGeom prst="ellipse">
            <a:avLst/>
          </a:prstGeom>
          <a:solidFill>
            <a:srgbClr val="FE4CB9">
              <a:alpha val="11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0" b="1" spc="-10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THANK YOU</a:t>
            </a:r>
            <a:endParaRPr lang="en-US" sz="7800" dirty="0"/>
          </a:p>
        </p:txBody>
      </p:sp>
      <p:sp>
        <p:nvSpPr>
          <p:cNvPr id="6" name="Shape 4"/>
          <p:cNvSpPr/>
          <p:nvPr/>
        </p:nvSpPr>
        <p:spPr>
          <a:xfrm>
            <a:off x="5413248" y="3639312"/>
            <a:ext cx="1371600" cy="6858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9136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খরচ · Khoroch — a personal ledger you can actually check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LOGARITHM  ·  LSH26-T033  ·  PROBLEM P12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Oitijya Islam Auvro   ·   Md. Nafiz Ahmed   ·   Dewan Salman Rahman Zisan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github.com/AuvroIslam/lsh26-t033-p12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2026-08-30T15:30:29Z</dcterms:created>
  <dcterms:modified xsi:type="dcterms:W3CDTF">2026-08-30T15:30:29Z</dcterms:modified>
</cp:coreProperties>
</file>